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6858000" cy="12192000"/>
  <p:embeddedFontLst>
    <p:embeddedFont>
      <p:font typeface="Geist"/>
      <p:regular r:id="rId37"/>
      <p:bold r:id="rId38"/>
      <p:italic r:id="rId39"/>
      <p:boldItalic r:id="rId40"/>
    </p:embeddedFont>
    <p:embeddedFont>
      <p:font typeface="Geist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iPbWsEJ5V7rwlPNayRBX4xztUn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27089B-2375-4813-B4FA-19BFB8F1D5EE}">
  <a:tblStyle styleId="{DF27089B-2375-4813-B4FA-19BFB8F1D5E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eist-boldItalic.fntdata"/><Relationship Id="rId20" Type="http://schemas.openxmlformats.org/officeDocument/2006/relationships/slide" Target="slides/slide15.xml"/><Relationship Id="rId42" Type="http://schemas.openxmlformats.org/officeDocument/2006/relationships/font" Target="fonts/GeistMono-bold.fntdata"/><Relationship Id="rId41" Type="http://schemas.openxmlformats.org/officeDocument/2006/relationships/font" Target="fonts/GeistMono-regular.fntdata"/><Relationship Id="rId22" Type="http://schemas.openxmlformats.org/officeDocument/2006/relationships/slide" Target="slides/slide17.xml"/><Relationship Id="rId44" Type="http://schemas.openxmlformats.org/officeDocument/2006/relationships/font" Target="fonts/GeistMono-boldItalic.fntdata"/><Relationship Id="rId21" Type="http://schemas.openxmlformats.org/officeDocument/2006/relationships/slide" Target="slides/slide16.xml"/><Relationship Id="rId43" Type="http://schemas.openxmlformats.org/officeDocument/2006/relationships/font" Target="fonts/GeistMon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Geist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Geist-italic.fntdata"/><Relationship Id="rId16" Type="http://schemas.openxmlformats.org/officeDocument/2006/relationships/slide" Target="slides/slide11.xml"/><Relationship Id="rId38" Type="http://schemas.openxmlformats.org/officeDocument/2006/relationships/font" Target="fonts/Geis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Apertura con la frase ancla: las agendas ya existen; lo que falta en la consulta podológica es apoyo para clasificar el riesgo del pie diabético y no perder controles. Primero el negocio y el producto, luego la tecnología y la gestión.</a:t>
            </a:r>
            <a:endParaRPr/>
          </a:p>
        </p:txBody>
      </p:sp>
      <p:sp>
        <p:nvSpPr>
          <p:cNvPr id="25" name="Google Shape;2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pautas piden el abstract en español e inglés. Leer la versión en español; la versión en inglés queda como respaldo en la lámina y en el informe.</a:t>
            </a:r>
            <a:endParaRPr/>
          </a:p>
        </p:txBody>
      </p:sp>
      <p:sp>
        <p:nvSpPr>
          <p:cNvPr id="38" name="Google Shape;3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60–70% es una estimación del equipo, no un dato publicado: decirlo así. Lo importante es el efecto: sin trazabilidad el control del pie de riesgo se pierde, la agenda es ineficiente y el profesional maneja datos sensibles sin controles.</a:t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Tres pilares, con el diferencial primero: el riesgo IWGDF. La ficha y la agenda son la base; la seguridad y el apoyo al cumplimiento de la Ley 19.628 están en la arquitectura, no agregados después.</a:t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Lámina central del diferencial. La evaluación corre en el servidor; los signos de alarma marcan el límite del podólogo: se deriva y se bloquea el procedimiento invasivo. Decir "implementa criterios IWGDF", no "certificado". Ajuste reciente: el grupo 2 ahora incluye enfermedad arterial más deformidad; se validará con el podólogo piloto. Úlcera previa sin pérdida de sensibilidad ni enfermedad arterial se mantiene en alto por criterio conservador; la enfermedad renal terminal queda pendiente. Siguiente paso: conectar el motor al formulario de atención.</a:t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paso 1 no corta el árbol: suma alertas, marca derivación y bloqueo, y la clasificación sigue. Pasos 2 a 4 asignan el grupo y el intervalo sale de GRUPOS_IWGDF. Úlcera previa sin PSP ni EAP queda en alto por criterio conservador. Pendiente: enfermedad renal terminal para el grupo 3 (requiere un campo nuevo). Validación clínica con el podólogo piloto pendiente.</a:t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regla clínica corre en el servidor; el cliente nunca decide el grupo de riesgo. Cada escritura pasa por RLS y deja rastro en log_auditoria por trigger. Pendiente antes de producción: conectar la acción al formulario, validar con zod y quitar la columna requiere_derivacion que ya no existe en la tabla atencion.</a:t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Comparación por categoría de producto, sin nombrar marcas. "Variable" porque depende de cada proveedor. El punto: la agenda ya está resuelta en el mercado; el valor de PodoCare es el criterio clínico de riesgo.</a:t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hay conexión, mostrar la landing en vivo (vista previa del PR o npm run dev): tocar el pie en el visor y mover el simulador. Los números de la cartera son datos de ejemplo de la landing, no pacientes reales.</a:t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piloto con un podólogo real reduce el riesgo de construir algo que nadie usa. Su disponibilidad es limitada, por eso las validaciones son reuniones breves y asincrónicas.</a:t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Dos planes con los precios reales del registro. El plan clínica se justifica por capacidades propias de la organización: agenda conjunta, administración centralizada y auditoría compartida.</a:t>
            </a:r>
            <a:endParaRPr/>
          </a:p>
        </p:txBody>
      </p:sp>
      <p:sp>
        <p:nvSpPr>
          <p:cNvPr id="253" name="Google Shape;2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navegador nunca habla directo con la base sin reglas: llega a Next.js en Vercel, y Next.js usa la sesión de Supabase para que RLS decida qué filas ve cada usuario. Docker garantiza el mismo entorno local para todo el equipo; GitHub Actions valida cada cambio.</a:t>
            </a:r>
            <a:endParaRPr/>
          </a:p>
        </p:txBody>
      </p:sp>
      <p:sp>
        <p:nvSpPr>
          <p:cNvPr id="272" name="Google Shape;27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solicitud baja por las cuatro capas: proxy.ts verifica la sesión, la página (src/app y src/features, con componentes comunes Button, Input, Card y Alert) arma la interfaz, la Server Action valida con zod y aplica clinical-rules.ts, y Supabase escribe con RLS y triggers de auditoría. clinical-rules.ts es la única fuente de verdad de IWGDF y derivación.</a:t>
            </a:r>
            <a:endParaRPr/>
          </a:p>
        </p:txBody>
      </p:sp>
      <p:sp>
        <p:nvSpPr>
          <p:cNvPr id="313" name="Google Shape;3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Doce herramientas agrupadas por capa, todas con plan gratuito o académico. Next.js, Supabase y Vercel concentran la aplicación; GitHub, Actions y Docker sostienen la calidad; Jira la gestión.</a:t>
            </a:r>
            <a:endParaRPr/>
          </a:p>
        </p:txBody>
      </p:sp>
      <p:sp>
        <p:nvSpPr>
          <p:cNvPr id="347" name="Google Shape;34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pipeline corre en Node 22 con caché de npm. Compila Next.js y la imagen Docker con variables públicas de ejemplo, así el CI nunca ve secretos. La plantilla de PR exige qué se hizo, cómo probarlo, issue vinculado y checklist.</a:t>
            </a:r>
            <a:endParaRPr/>
          </a:p>
        </p:txBody>
      </p:sp>
      <p:sp>
        <p:nvSpPr>
          <p:cNvPr id="401" name="Google Shape;40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paciente y usuario pertenece a una organización. Las demás tablas heredan el tenant a través de paciente y ficha clínica, así que una sola función de pertenencia basta para aislar todo. El detalle completo de columnas, políticas y funciones está en el anexo técnico.</a:t>
            </a:r>
            <a:endParaRPr/>
          </a:p>
        </p:txBody>
      </p:sp>
      <p:sp>
        <p:nvSpPr>
          <p:cNvPr id="439" name="Google Shape;43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FK: usuario.organizacion_id y paciente.organizacion_id → organizacion; paciente.comuna_id → comuna (SET NULL); comuna.region_id → region; cita.paciente_id → paciente (RESTRICT); cita.usuario_id → usuario (SET NULL); contacto_emergencia.paciente_id → paciente (CASCADE). RUT en dos columnas con CHECK de módulo 11. cita.fecha_hora_fin la calcula un trigger; la doble reserva la impide una restricción de exclusión por profesional.</a:t>
            </a:r>
            <a:endParaRPr/>
          </a:p>
        </p:txBody>
      </p:sp>
      <p:sp>
        <p:nvSpPr>
          <p:cNvPr id="461" name="Google Shape;46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RPC públicas validan auth.uid() y el rol dentro de la función. es_miembro_de_organizacion es la única puerta de pertenencia que usan las políticas. auditar_cambio guarda solo los campos modificados y omite datos personales. Existe además private.reiniciar_datos_demo para la cuenta de demostración.</a:t>
            </a:r>
            <a:endParaRPr/>
          </a:p>
        </p:txBody>
      </p:sp>
      <p:sp>
        <p:nvSpPr>
          <p:cNvPr id="472" name="Google Shape;47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Defensa en profundidad: aunque el frontend fallara, la base de datos sigue aplicando RLS. La bitácora cumple con trazabilidad exigida por la Ley 19.628 porque nadie puede reescribirla.</a:t>
            </a:r>
            <a:endParaRPr/>
          </a:p>
        </p:txBody>
      </p:sp>
      <p:sp>
        <p:nvSpPr>
          <p:cNvPr id="519" name="Google Shape;51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Todas las tablas tienen RLS activo. Solo usuario y paciente guardan organizacion_id; el resto lo deriva por join. contacto_emergencia tiene RLS sin políticas: por la API nadie la lee ni la escribe. paciente no tiene política INSERT en el esquema público: revisar cómo se crean pacientes antes de la defensa. log_auditoria no tiene INSERT, UPDATE ni DELETE para usuarios: solo escriben los triggers SECURITY DEFINER.</a:t>
            </a:r>
            <a:endParaRPr/>
          </a:p>
        </p:txBody>
      </p:sp>
      <p:sp>
        <p:nvSpPr>
          <p:cNvPr id="541" name="Google Shape;54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registro crea la cuenta en Supabase Auth y, en la misma acción, llama a la RPC crear_organizacion_inicial, que es idempotente y usa un advisory lock. La 2FA se inscribe desde Configuración (TOTP). proxy.ts protege toda ruta no pública: sin sesión redirige a /login; con 2FA pendiente, a /login/verificar.</a:t>
            </a:r>
            <a:endParaRPr/>
          </a:p>
        </p:txBody>
      </p:sp>
      <p:sp>
        <p:nvSpPr>
          <p:cNvPr id="552" name="Google Shape;55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Estamos en la Fase 2. La aplicación ya está desplegada en Vercel desde esta fase; la Fase 3 se centra en validar con el cliente piloto y cerrar el informe.</a:t>
            </a:r>
            <a:endParaRPr/>
          </a:p>
        </p:txBody>
      </p:sp>
      <p:sp>
        <p:nvSpPr>
          <p:cNvPr id="595" name="Google Shape;59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Indicador de rúbrica: metodología aplicada con logro de objetivos. Mostrar el tablero Jira en vivo. Ceremonias: planificación de sprint, daily asincrónico, revisión con el cliente y retrospectiva. Además: Scrum y UI/UX como épicas transversales (EP-10 y EP-11), cambios de esquema como migraciones SQL probadas antes de aplicarse, y CI con GitHub Actions.</a:t>
            </a:r>
            <a:endParaRPr/>
          </a:p>
        </p:txBody>
      </p:sp>
      <p:sp>
        <p:nvSpPr>
          <p:cNvPr id="620" name="Google Shape;62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Indicador de rúbrica: propone ajustes considerando dificultades, facilitadores y retroalimentación. El objetivo general se mantiene; se precisó el alcance y se priorizó el flujo crítico: autenticación, paciente y ficha, agenda y atención.</a:t>
            </a:r>
            <a:endParaRPr/>
          </a:p>
        </p:txBody>
      </p:sp>
      <p:sp>
        <p:nvSpPr>
          <p:cNvPr id="641" name="Google Shape;64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diseño de la interfaz se itera sobre la app en producción, con revisiones del cliente piloto en cada sprint (épica de UI/UX, EP-11).</a:t>
            </a:r>
            <a:endParaRPr/>
          </a:p>
        </p:txBody>
      </p:sp>
      <p:sp>
        <p:nvSpPr>
          <p:cNvPr id="652" name="Google Shape;65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 transparentes: el backend, la seguridad y el motor clínico existen y tienen pruebas. La estratificación y la landing están en la rama feature/iwgdf-estratificacion, en revisión por pull request. Falta conectar el motor al formulario de atención. Estado al 15 de octubre.</a:t>
            </a:r>
            <a:endParaRPr/>
          </a:p>
        </p:txBody>
      </p:sp>
      <p:sp>
        <p:nvSpPr>
          <p:cNvPr id="668" name="Google Shape;66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Indicador de rúbrica con mayor peso (25 puntos): evidencias de avance en documentación, programación y almacenamiento de datos, alineadas a lo planificado y a estándares de la industria. Mostrar la app en producción y el tablero Jira como respaldo. También pesan la entrega de documentación con la estructura y nombres pedidos, guardada en Git (20 puntos), y la evidencia del aporte de cada integrante (15 puntos): repositorio MarceloCaballeroo/CAPSTONE, con src/, Fase 1/ y Fase 2/, model.md, ci.yml y README.</a:t>
            </a:r>
            <a:endParaRPr/>
          </a:p>
        </p:txBody>
      </p:sp>
      <p:sp>
        <p:nvSpPr>
          <p:cNvPr id="704" name="Google Shape;70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pautas 2.2 y 2.3 piden verificar los indicadores de calidad de cada competencia del perfil de egreso. La competencia de pruebas es la más débil hoy: conviene ejecutar las pruebas manuales de autenticación y dejar evidencia antes de presentar.</a:t>
            </a:r>
            <a:endParaRPr/>
          </a:p>
        </p:txBody>
      </p:sp>
      <p:sp>
        <p:nvSpPr>
          <p:cNvPr id="723" name="Google Shape;72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integrante presenta su propio aporte. Respaldo: tablero Jira con responsable por tarea, historial de commits en GitHub y diarios de reflexión individuales.</a:t>
            </a:r>
            <a:endParaRPr/>
          </a:p>
        </p:txBody>
      </p:sp>
      <p:sp>
        <p:nvSpPr>
          <p:cNvPr id="734" name="Google Shape;73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Cierre con la frase ancla y la invitación a probar la app. Abrir a preguntas. El apéndice (abstract y referencias) queda después de esta lámina.</a:t>
            </a:r>
            <a:endParaRPr/>
          </a:p>
        </p:txBody>
      </p:sp>
      <p:sp>
        <p:nvSpPr>
          <p:cNvPr id="759" name="Google Shape;75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Verificar formato de citas (APA u otro que pida la asignatura) y agregar fecha de consulta y URL antes de entregar.</a:t>
            </a:r>
            <a:endParaRPr/>
          </a:p>
        </p:txBody>
      </p:sp>
      <p:sp>
        <p:nvSpPr>
          <p:cNvPr id="776" name="Google Shape;77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background 1">
  <p:cSld name="Slide background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3"/>
          <p:cNvSpPr txBox="1"/>
          <p:nvPr>
            <p:ph type="title"/>
          </p:nvPr>
        </p:nvSpPr>
        <p:spPr>
          <a:xfrm>
            <a:off x="812800" y="1188641"/>
            <a:ext cx="10566400" cy="460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ist"/>
              <a:buNone/>
              <a:defRPr sz="30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3"/>
          <p:cNvSpPr txBox="1"/>
          <p:nvPr>
            <p:ph idx="1" type="body"/>
          </p:nvPr>
        </p:nvSpPr>
        <p:spPr>
          <a:xfrm>
            <a:off x="812800" y="1954411"/>
            <a:ext cx="10566400" cy="4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8FA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type="title"/>
          </p:nvPr>
        </p:nvSpPr>
        <p:spPr>
          <a:xfrm>
            <a:off x="812800" y="1188641"/>
            <a:ext cx="10566400" cy="460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ist"/>
              <a:buNone/>
              <a:defRPr sz="30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812800" y="1954411"/>
            <a:ext cx="10566400" cy="4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0F172A"/>
              </a:buClr>
              <a:buSzPts val="1600"/>
              <a:buNone/>
              <a:defRPr sz="1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background 2">
  <p:cSld name="Slide background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5"/>
          <p:cNvSpPr txBox="1"/>
          <p:nvPr>
            <p:ph type="title"/>
          </p:nvPr>
        </p:nvSpPr>
        <p:spPr>
          <a:xfrm>
            <a:off x="812800" y="1188641"/>
            <a:ext cx="10566400" cy="460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ist"/>
              <a:buNone/>
              <a:defRPr sz="30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" type="body"/>
          </p:nvPr>
        </p:nvSpPr>
        <p:spPr>
          <a:xfrm>
            <a:off x="812800" y="1954411"/>
            <a:ext cx="10566400" cy="4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812800" y="1188641"/>
            <a:ext cx="10566400" cy="460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ist"/>
              <a:buNone/>
              <a:defRPr b="0" i="0" sz="30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812800" y="1954411"/>
            <a:ext cx="10566400" cy="4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4.png"/><Relationship Id="rId10" Type="http://schemas.openxmlformats.org/officeDocument/2006/relationships/image" Target="../media/image48.png"/><Relationship Id="rId13" Type="http://schemas.openxmlformats.org/officeDocument/2006/relationships/image" Target="../media/image41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9" Type="http://schemas.openxmlformats.org/officeDocument/2006/relationships/image" Target="../media/image54.png"/><Relationship Id="rId15" Type="http://schemas.openxmlformats.org/officeDocument/2006/relationships/image" Target="../media/image1.png"/><Relationship Id="rId14" Type="http://schemas.openxmlformats.org/officeDocument/2006/relationships/image" Target="../media/image44.png"/><Relationship Id="rId5" Type="http://schemas.openxmlformats.org/officeDocument/2006/relationships/image" Target="../media/image46.png"/><Relationship Id="rId6" Type="http://schemas.openxmlformats.org/officeDocument/2006/relationships/image" Target="../media/image40.png"/><Relationship Id="rId7" Type="http://schemas.openxmlformats.org/officeDocument/2006/relationships/image" Target="../media/image47.png"/><Relationship Id="rId8" Type="http://schemas.openxmlformats.org/officeDocument/2006/relationships/image" Target="../media/image4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image" Target="../media/image62.png"/><Relationship Id="rId13" Type="http://schemas.openxmlformats.org/officeDocument/2006/relationships/image" Target="../media/image65.png"/><Relationship Id="rId1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74.png"/><Relationship Id="rId15" Type="http://schemas.openxmlformats.org/officeDocument/2006/relationships/image" Target="../media/image1.png"/><Relationship Id="rId14" Type="http://schemas.openxmlformats.org/officeDocument/2006/relationships/image" Target="../media/image67.png"/><Relationship Id="rId5" Type="http://schemas.openxmlformats.org/officeDocument/2006/relationships/image" Target="../media/image88.png"/><Relationship Id="rId6" Type="http://schemas.openxmlformats.org/officeDocument/2006/relationships/image" Target="../media/image37.png"/><Relationship Id="rId7" Type="http://schemas.openxmlformats.org/officeDocument/2006/relationships/image" Target="../media/image63.png"/><Relationship Id="rId8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1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7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0.png"/><Relationship Id="rId4" Type="http://schemas.openxmlformats.org/officeDocument/2006/relationships/image" Target="../media/image86.png"/><Relationship Id="rId5" Type="http://schemas.openxmlformats.org/officeDocument/2006/relationships/image" Target="../media/image82.png"/><Relationship Id="rId6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9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7.png"/><Relationship Id="rId6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/>
          <p:nvPr/>
        </p:nvSpPr>
        <p:spPr>
          <a:xfrm>
            <a:off x="812800" y="1766987"/>
            <a:ext cx="6922404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PODOCARE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8" name="Google Shape;28;p1"/>
          <p:cNvSpPr txBox="1"/>
          <p:nvPr>
            <p:ph type="title"/>
          </p:nvPr>
        </p:nvSpPr>
        <p:spPr>
          <a:xfrm>
            <a:off x="812800" y="2244425"/>
            <a:ext cx="75402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Geist"/>
              <a:buNone/>
            </a:pPr>
            <a:r>
              <a:rPr b="1" i="0" lang="en-US" sz="44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Existe gestión de agenda. </a:t>
            </a:r>
            <a:r>
              <a:rPr b="1" i="0" lang="en-US" sz="4400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Faltaba inteligencia clínica de riesgo.</a:t>
            </a:r>
            <a:endParaRPr sz="4400"/>
          </a:p>
        </p:txBody>
      </p:sp>
      <p:sp>
        <p:nvSpPr>
          <p:cNvPr id="29" name="Google Shape;29;p1"/>
          <p:cNvSpPr/>
          <p:nvPr/>
        </p:nvSpPr>
        <p:spPr>
          <a:xfrm>
            <a:off x="812800" y="4283373"/>
            <a:ext cx="6922404" cy="629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Geist"/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Plataforma de gestión clínica para podólogos independientes en Chile.</a:t>
            </a:r>
            <a:endParaRPr b="0" i="0" sz="17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Logo PodoCare" id="30" name="Google Shape;30;p1"/>
          <p:cNvPicPr preferRelativeResize="0"/>
          <p:nvPr/>
        </p:nvPicPr>
        <p:blipFill rotWithShape="1">
          <a:blip r:embed="rId3">
            <a:alphaModFix/>
          </a:blip>
          <a:srcRect b="0" l="22705" r="22705" t="0"/>
          <a:stretch/>
        </p:blipFill>
        <p:spPr>
          <a:xfrm>
            <a:off x="8808641" y="2170410"/>
            <a:ext cx="1905000" cy="1905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8406438" y="4253210"/>
            <a:ext cx="2709505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Capstone · Portafolio de Título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Marcelo Caballero · Martin Maldonado · Emily Vera · Duoc UC Sede Plaza Vespucio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34" name="Google Shape;34;p1"/>
          <p:cNvPicPr preferRelativeResize="0"/>
          <p:nvPr/>
        </p:nvPicPr>
        <p:blipFill rotWithShape="1">
          <a:blip r:embed="rId4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RESUM</a:t>
            </a:r>
            <a:r>
              <a:rPr lang="en-US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EN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1" name="Google Shape;41;p30"/>
          <p:cNvSpPr txBox="1"/>
          <p:nvPr>
            <p:ph type="title"/>
          </p:nvPr>
        </p:nvSpPr>
        <p:spPr>
          <a:xfrm>
            <a:off x="812800" y="11886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Geist"/>
              <a:buNone/>
            </a:pPr>
            <a:r>
              <a:rPr b="1" i="0" lang="en-US" sz="36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Resumen del proyecto Podocare</a:t>
            </a:r>
            <a:endParaRPr sz="3600"/>
          </a:p>
        </p:txBody>
      </p:sp>
      <p:cxnSp>
        <p:nvCxnSpPr>
          <p:cNvPr id="42" name="Google Shape;42;p30"/>
          <p:cNvCxnSpPr/>
          <p:nvPr/>
        </p:nvCxnSpPr>
        <p:spPr>
          <a:xfrm>
            <a:off x="819150" y="1996281"/>
            <a:ext cx="0" cy="2936180"/>
          </a:xfrm>
          <a:prstGeom prst="straightConnector1">
            <a:avLst/>
          </a:prstGeom>
          <a:noFill/>
          <a:ln cap="flat" cmpd="sng" w="12700">
            <a:solidFill>
              <a:srgbClr val="2DD4B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30"/>
          <p:cNvSpPr/>
          <p:nvPr/>
        </p:nvSpPr>
        <p:spPr>
          <a:xfrm>
            <a:off x="1079500" y="2379750"/>
            <a:ext cx="8805600" cy="1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PodoCare es una plataforma web de gestión clínica para consultas de podología independiente en Chile. Digitaliza la ficha clínica y la agenda, y clasifica el riesgo de pie diabético en los cuatro grupos IWGDF con su intervalo de control.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4" name="Google Shape;44;p30"/>
          <p:cNvSpPr/>
          <p:nvPr/>
        </p:nvSpPr>
        <p:spPr>
          <a:xfrm>
            <a:off x="1079500" y="3865650"/>
            <a:ext cx="88056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La seguridad por filas y una bitácora de auditoría inmutable apoyan el cumplimiento de la Ley N.º 19.628. Al 14 de octubre, el sistema está desplegado y 15 de 22 historias de usuario están finalizadas.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5" name="Google Shape;45;p3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PODOCARE · Expone: Martin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6" name="Google Shape;46;p30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47" name="Google Shape;47;p30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EL PROBLEMA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4" name="Google Shape;54;p2"/>
          <p:cNvSpPr txBox="1"/>
          <p:nvPr>
            <p:ph type="title"/>
          </p:nvPr>
        </p:nvSpPr>
        <p:spPr>
          <a:xfrm>
            <a:off x="812800" y="1188641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ist"/>
              <a:buNone/>
            </a:pPr>
            <a:r>
              <a:rPr b="1" i="0" lang="en-US" sz="30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Sin trazabilidad, el seguimiento del pie de riesgo se pierde</a:t>
            </a:r>
            <a:endParaRPr sz="3000"/>
          </a:p>
        </p:txBody>
      </p:sp>
      <p:sp>
        <p:nvSpPr>
          <p:cNvPr id="55" name="Google Shape;55;p2"/>
          <p:cNvSpPr/>
          <p:nvPr/>
        </p:nvSpPr>
        <p:spPr>
          <a:xfrm>
            <a:off x="812800" y="3099197"/>
            <a:ext cx="4724400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0"/>
              <a:buFont typeface="Geist"/>
              <a:buNone/>
            </a:pPr>
            <a:r>
              <a:rPr b="1" i="0" lang="en-US" sz="90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60–70%</a:t>
            </a:r>
            <a:endParaRPr b="0" i="0" sz="90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12800" y="4343797"/>
            <a:ext cx="4447540" cy="608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Geist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de las consultas independientes sigue en papel o Excel.</a:t>
            </a:r>
            <a:endParaRPr b="0" i="0" sz="17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12800" y="5028208"/>
            <a:ext cx="444754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Estimación del equipo.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540375" y="2384425"/>
            <a:ext cx="5835650" cy="1118691"/>
          </a:xfrm>
          <a:prstGeom prst="roundRect">
            <a:avLst>
              <a:gd fmla="val 879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ock" id="59" name="Google Shape;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6750" y="2565400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6254750" y="2565400"/>
            <a:ext cx="5062347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Geist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Trazabilidad clínica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254750" y="2859980"/>
            <a:ext cx="5062347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Cuesta seguir tratamientos largos, como el control del pie de riesgo.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540375" y="3611066"/>
            <a:ext cx="5835650" cy="1118691"/>
          </a:xfrm>
          <a:prstGeom prst="roundRect">
            <a:avLst>
              <a:gd fmla="val 879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lendar" id="63" name="Google Shape;6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6750" y="3792041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6254750" y="3792041"/>
            <a:ext cx="5062347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Geist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Riesgo operacional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254750" y="4086622"/>
            <a:ext cx="5062347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Agenda y coordinación ineficientes en consultas de 1 a 2 profesionales.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540375" y="4837708"/>
            <a:ext cx="5835650" cy="1118691"/>
          </a:xfrm>
          <a:prstGeom prst="roundRect">
            <a:avLst>
              <a:gd fmla="val 879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ck" id="67" name="Google Shape;6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6750" y="5018683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/>
          <p:nvPr/>
        </p:nvSpPr>
        <p:spPr>
          <a:xfrm>
            <a:off x="6254750" y="5018683"/>
            <a:ext cx="5062347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Geist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Exposición legal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254750" y="5313263"/>
            <a:ext cx="5062347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Son datos de salud: la Ley N.º 19.628 exige controlar quién accede.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Cifra estimada por el equipo · Expone: Emily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72" name="Google Shape;72;p2"/>
          <p:cNvPicPr preferRelativeResize="0"/>
          <p:nvPr/>
        </p:nvPicPr>
        <p:blipFill rotWithShape="1">
          <a:blip r:embed="rId6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LA SOLUCIÓN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9" name="Google Shape;79;p3"/>
          <p:cNvSpPr txBox="1"/>
          <p:nvPr>
            <p:ph type="title"/>
          </p:nvPr>
        </p:nvSpPr>
        <p:spPr>
          <a:xfrm>
            <a:off x="812800" y="1188641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ist"/>
              <a:buNone/>
            </a:pPr>
            <a:r>
              <a:rPr b="1" i="0" lang="en-US" sz="30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PodoCare convierte la ficha clínica en una alerta de riesgo</a:t>
            </a:r>
            <a:endParaRPr sz="3000"/>
          </a:p>
        </p:txBody>
      </p:sp>
      <p:sp>
        <p:nvSpPr>
          <p:cNvPr id="80" name="Google Shape;80;p3"/>
          <p:cNvSpPr/>
          <p:nvPr/>
        </p:nvSpPr>
        <p:spPr>
          <a:xfrm>
            <a:off x="815975" y="2333625"/>
            <a:ext cx="3380284" cy="2551113"/>
          </a:xfrm>
          <a:prstGeom prst="roundRect">
            <a:avLst>
              <a:gd fmla="val 4854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ctivity"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550" y="26162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1098550" y="3149600"/>
            <a:ext cx="2899588" cy="604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Geist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Riesgo IWGDF automático</a:t>
            </a:r>
            <a:endParaRPr b="0" i="0" sz="19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098550" y="3855641"/>
            <a:ext cx="2899588" cy="77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Cada evaluación cae en uno de cuatro grupos, con fecha de control y alerta de derivación.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405809" y="2333625"/>
            <a:ext cx="3380383" cy="2551113"/>
          </a:xfrm>
          <a:prstGeom prst="roundRect">
            <a:avLst>
              <a:gd fmla="val 4854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ot" id="85" name="Google Shape;8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8384" y="26162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4688384" y="3149600"/>
            <a:ext cx="2899690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Geist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Ficha y visor 3D</a:t>
            </a:r>
            <a:endParaRPr b="0" i="0" sz="19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688384" y="3566120"/>
            <a:ext cx="2899690" cy="77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Antecedentes, atenciones con CIE-10 y hallazgos marcados sobre un pie 3D.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995741" y="2333625"/>
            <a:ext cx="3380284" cy="2551113"/>
          </a:xfrm>
          <a:prstGeom prst="roundRect">
            <a:avLst>
              <a:gd fmla="val 4854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ield" id="89" name="Google Shape;8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8316" y="2616200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8278316" y="3149600"/>
            <a:ext cx="2899588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Geist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Agenda y trazabilidad</a:t>
            </a:r>
            <a:endParaRPr b="0" i="0" sz="19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8278316" y="3566120"/>
            <a:ext cx="2899588" cy="77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Citas sin doble reserva y una bitácora de auditoría que nadie puede reescribir.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PODOCARE · Expone: Emily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94" name="Google Shape;94;p3"/>
          <p:cNvPicPr preferRelativeResize="0"/>
          <p:nvPr/>
        </p:nvPicPr>
        <p:blipFill rotWithShape="1">
          <a:blip r:embed="rId6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MOTOR CLÍNICO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1" name="Google Shape;101;p4"/>
          <p:cNvSpPr txBox="1"/>
          <p:nvPr>
            <p:ph type="title"/>
          </p:nvPr>
        </p:nvSpPr>
        <p:spPr>
          <a:xfrm>
            <a:off x="812800" y="1188641"/>
            <a:ext cx="108833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ist"/>
              <a:buNone/>
            </a:pPr>
            <a:r>
              <a:rPr b="1" i="0" lang="en-US" sz="30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Cada hallazgo se traduce en un grupo de riesgo y una fecha de control</a:t>
            </a:r>
            <a:endParaRPr sz="3000"/>
          </a:p>
        </p:txBody>
      </p:sp>
      <p:graphicFrame>
        <p:nvGraphicFramePr>
          <p:cNvPr id="102" name="Google Shape;102;p4"/>
          <p:cNvGraphicFramePr/>
          <p:nvPr/>
        </p:nvGraphicFramePr>
        <p:xfrm>
          <a:off x="825500" y="229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{DF27089B-2375-4813-B4FA-19BFB8F1D5EE}</a:tableStyleId>
              </a:tblPr>
              <a:tblGrid>
                <a:gridCol w="5487925"/>
                <a:gridCol w="3166100"/>
                <a:gridCol w="1899675"/>
              </a:tblGrid>
              <a:tr h="446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300"/>
                        <a:buFont typeface="Geist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Hallazgo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300"/>
                        <a:buFont typeface="Geist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Resultado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300"/>
                        <a:buFont typeface="Geist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Control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46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Infección activa o isquemia (sin pulsos, dolor isquémico)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1D1D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7F1D1D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Derivación y bloqueo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Al detectarlo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6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Úlcera previa o amputación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1C1C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B91C1C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Grupo 3 · alto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Cada 1–3 meses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7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Dos de tres: pérdida de sensibilidad, enfermedad arterial o deformidad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5309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B45309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Grupo 2 · moderado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Cada 3–6 meses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6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Pérdida de sensibilidad o enfermedad arterial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766E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Grupo 1 · bajo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Cada 6–12 meses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46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Ninguno de los anteriores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64748B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Grupo 0 · muy bajo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Cada 12 meses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01600" marB="101600" marR="152400" marL="1524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Google Shape;103;p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Criterios IWGDF en clinical-rules.ts, con pruebas · Validación con el podólogo piloto: pendiente · Expone: Marcelo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ANEXO TÉCNICO · MOTOR CLÍNICO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2" name="Google Shape;112;p5"/>
          <p:cNvSpPr txBox="1"/>
          <p:nvPr>
            <p:ph type="title"/>
          </p:nvPr>
        </p:nvSpPr>
        <p:spPr>
          <a:xfrm>
            <a:off x="812800" y="1127720"/>
            <a:ext cx="10883392" cy="3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Geist"/>
              <a:buNone/>
            </a:pPr>
            <a:r>
              <a:rPr b="1" i="0" lang="en-US" sz="2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Árbol de decisión de evaluarRiesgoYDerivacion()</a:t>
            </a:r>
            <a:endParaRPr sz="2600"/>
          </a:p>
        </p:txBody>
      </p:sp>
      <p:sp>
        <p:nvSpPr>
          <p:cNvPr id="113" name="Google Shape;113;p5"/>
          <p:cNvSpPr/>
          <p:nvPr/>
        </p:nvSpPr>
        <p:spPr>
          <a:xfrm>
            <a:off x="812800" y="1670050"/>
            <a:ext cx="3810000" cy="711200"/>
          </a:xfrm>
          <a:prstGeom prst="roundRect">
            <a:avLst>
              <a:gd fmla="val 125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50150" lIns="126350" spcFirstLastPara="1" rIns="21200" wrap="square" tIns="5015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1 · ¿Infección activa, sin pulsos o dolor isquémico?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974850"/>
            <a:ext cx="8636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5387975" y="1673225"/>
            <a:ext cx="4057650" cy="704850"/>
          </a:xfrm>
          <a:prstGeom prst="roundRect">
            <a:avLst>
              <a:gd fmla="val 1216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250" lIns="130450" spcFirstLastPara="1" rIns="18050" wrap="square" tIns="5425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Alerta: derivar y bloquear lo invasivo. La clasificación continúa.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16" name="Google Shape;1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2330450"/>
            <a:ext cx="1016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812800" y="2533650"/>
            <a:ext cx="3810000" cy="711200"/>
          </a:xfrm>
          <a:prstGeom prst="roundRect">
            <a:avLst>
              <a:gd fmla="val 125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50150" lIns="126350" spcFirstLastPara="1" rIns="126350" wrap="square" tIns="5015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2 · ¿Úlcera previa o amputación?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2838450"/>
            <a:ext cx="8636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5387975" y="2536825"/>
            <a:ext cx="4057650" cy="704850"/>
          </a:xfrm>
          <a:prstGeom prst="roundRect">
            <a:avLst>
              <a:gd fmla="val 1216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250" lIns="130450" spcFirstLastPara="1" rIns="112075" wrap="square" tIns="5425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Grupo 3 · alto · derivación · control cada 1–3 meses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3194050"/>
            <a:ext cx="1016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812800" y="3397250"/>
            <a:ext cx="3810000" cy="711200"/>
          </a:xfrm>
          <a:prstGeom prst="roundRect">
            <a:avLst>
              <a:gd fmla="val 125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50150" lIns="126350" spcFirstLastPara="1" rIns="126350" wrap="square" tIns="5015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3 · ¿Dos de tres: PSP, EAP o deformidad?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702050"/>
            <a:ext cx="8636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5387975" y="3400425"/>
            <a:ext cx="4057650" cy="704850"/>
          </a:xfrm>
          <a:prstGeom prst="roundRect">
            <a:avLst>
              <a:gd fmla="val 1216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250" lIns="130450" spcFirstLastPara="1" rIns="130450" wrap="square" tIns="5425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Grupo 2 · moderado · control cada 3–6 meses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24" name="Google Shape;12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4057650"/>
            <a:ext cx="1016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812800" y="4260850"/>
            <a:ext cx="3810000" cy="711200"/>
          </a:xfrm>
          <a:prstGeom prst="roundRect">
            <a:avLst>
              <a:gd fmla="val 125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50150" lIns="126350" spcFirstLastPara="1" rIns="126350" wrap="square" tIns="5015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4 · ¿PSP o EAP?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4565650"/>
            <a:ext cx="8636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5387975" y="4264025"/>
            <a:ext cx="4057650" cy="704850"/>
          </a:xfrm>
          <a:prstGeom prst="roundRect">
            <a:avLst>
              <a:gd fmla="val 1216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250" lIns="130450" spcFirstLastPara="1" rIns="130450" wrap="square" tIns="5425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Grupo 1 · bajo · control cada 6–12 meses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4921250"/>
            <a:ext cx="1016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815975" y="5127625"/>
            <a:ext cx="3803650" cy="603250"/>
          </a:xfrm>
          <a:prstGeom prst="roundRect">
            <a:avLst>
              <a:gd fmla="val 142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250" lIns="130450" spcFirstLastPara="1" rIns="130450" wrap="square" tIns="5425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Grupo 0 · muy bajo · control cada 12 meses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9702800" y="1670050"/>
            <a:ext cx="1676400" cy="2031405"/>
          </a:xfrm>
          <a:prstGeom prst="roundRect">
            <a:avLst>
              <a:gd fmla="val 530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9842500" y="1797050"/>
            <a:ext cx="1447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Leer así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9842500" y="2099270"/>
            <a:ext cx="1447800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Sí → derecha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No → abajo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842500" y="2584252"/>
            <a:ext cx="1447800" cy="1015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PSP: sin sensibilidad al monofilamento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EAP: pulsos ausentes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src/lib/clinical-rules.ts · cubierto por clinical-rules.test.mjs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136" name="Google Shape;136;p5"/>
          <p:cNvPicPr preferRelativeResize="0"/>
          <p:nvPr/>
        </p:nvPicPr>
        <p:blipFill rotWithShape="1">
          <a:blip r:embed="rId5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ANEXO TÉCNICO · FLUJOS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43" name="Google Shape;143;p6"/>
          <p:cNvSpPr txBox="1"/>
          <p:nvPr>
            <p:ph type="title"/>
          </p:nvPr>
        </p:nvSpPr>
        <p:spPr>
          <a:xfrm>
            <a:off x="812800" y="1127720"/>
            <a:ext cx="10883392" cy="3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Geist"/>
              <a:buNone/>
            </a:pPr>
            <a:r>
              <a:rPr b="1" i="0" lang="en-US" sz="2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Registrar una atención: del formulario a la bitácora</a:t>
            </a:r>
            <a:endParaRPr sz="2600"/>
          </a:p>
        </p:txBody>
      </p:sp>
      <p:sp>
        <p:nvSpPr>
          <p:cNvPr id="144" name="Google Shape;144;p6"/>
          <p:cNvSpPr/>
          <p:nvPr/>
        </p:nvSpPr>
        <p:spPr>
          <a:xfrm>
            <a:off x="815975" y="19526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933450" y="215642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1 · Formulario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33450" y="2377380"/>
            <a:ext cx="2236851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Atención y examen del pie en la ficha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533775" y="19526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3651250" y="225167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2 · proxy.ts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651250" y="2472630"/>
            <a:ext cx="2236851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Sesión válida y nivel AAL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000" y="2406650"/>
            <a:ext cx="4064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6251575" y="19526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369050" y="225167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3 · Server Action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369050" y="2472630"/>
            <a:ext cx="2236851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auth.getUser() y validación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2800" y="2406650"/>
            <a:ext cx="4064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8969375" y="19526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9086850" y="225167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4 · clinical-rules.ts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9086850" y="2472630"/>
            <a:ext cx="2236851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evaluarRiesgoYDerivacion()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406650"/>
            <a:ext cx="4064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8972550" y="3771900"/>
            <a:ext cx="2400300" cy="1003300"/>
          </a:xfrm>
          <a:prstGeom prst="roundRect">
            <a:avLst>
              <a:gd fmla="val 8228" name="adj"/>
            </a:avLst>
          </a:prstGeom>
          <a:solidFill>
            <a:srgbClr val="F0FDFA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9093200" y="3972520"/>
            <a:ext cx="2223770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5 · INSERT atencion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093200" y="4193480"/>
            <a:ext cx="22237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Grupo IWGDF; RLS valida la organización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62" name="Google Shape;1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1900" y="2914650"/>
            <a:ext cx="1016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/>
          <p:nvPr/>
        </p:nvSpPr>
        <p:spPr>
          <a:xfrm>
            <a:off x="6251575" y="37687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369050" y="397252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6 · Derivación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369050" y="4193480"/>
            <a:ext cx="2236851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Si hay alerta: INSERT derivacion pendiente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66" name="Google Shape;16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10600" y="4222750"/>
            <a:ext cx="4064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3533775" y="37687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3651250" y="397252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7 · Trigger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651250" y="4193480"/>
            <a:ext cx="2236851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auditar_* después de cada escritura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70" name="Google Shape;17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2800" y="4222750"/>
            <a:ext cx="4064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815975" y="37687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933450" y="406777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8 · log_auditoria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933450" y="4288730"/>
            <a:ext cx="224155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Bitácora sin UPDATE ni DELETE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174" name="Google Shape;17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75000" y="4222750"/>
            <a:ext cx="4064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812800" y="498475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Flujo objetivo. Hoy guardarAtencion aún no está conectada al formulario y le falta la validación zod (ver Estado del avance).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src/app/actions/atenciones.ts · src/lib/clinical-rules.ts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178" name="Google Shape;178;p6"/>
          <p:cNvPicPr preferRelativeResize="0"/>
          <p:nvPr/>
        </p:nvPicPr>
        <p:blipFill rotWithShape="1">
          <a:blip r:embed="rId6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DIFERENCIACIÓN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85" name="Google Shape;185;p7"/>
          <p:cNvSpPr txBox="1"/>
          <p:nvPr>
            <p:ph type="title"/>
          </p:nvPr>
        </p:nvSpPr>
        <p:spPr>
          <a:xfrm>
            <a:off x="812800" y="11886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ist"/>
              <a:buNone/>
            </a:pPr>
            <a:r>
              <a:rPr b="1" i="0" lang="en-US" sz="36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Lo que una agenda genérica no hace</a:t>
            </a:r>
            <a:endParaRPr sz="3600"/>
          </a:p>
        </p:txBody>
      </p:sp>
      <p:graphicFrame>
        <p:nvGraphicFramePr>
          <p:cNvPr id="186" name="Google Shape;186;p7"/>
          <p:cNvGraphicFramePr/>
          <p:nvPr/>
        </p:nvGraphicFramePr>
        <p:xfrm>
          <a:off x="825500" y="200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{DF27089B-2375-4813-B4FA-19BFB8F1D5EE}</a:tableStyleId>
              </a:tblPr>
              <a:tblGrid>
                <a:gridCol w="5065775"/>
                <a:gridCol w="2110750"/>
                <a:gridCol w="3377175"/>
              </a:tblGrid>
              <a:tr h="49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94A3B8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Capacidad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94A3B8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Agenda genérica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PodoCare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</a:tr>
              <a:tr h="49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E2E8F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Agenda de citas con estados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94A3B8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Sí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Sí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9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E2E8F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Riesgo de pie diabético en 4 grupos IWGDF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94A3B8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Normalmente no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Sí, con fecha de control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</a:tr>
              <a:tr h="49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E2E8F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Alerta de derivación ante signos de alarma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94A3B8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Normalmente no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Sí, bloquea lo invasivo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9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E2E8F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Hallazgos marcados sobre un pie 3D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94A3B8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Normalmente no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Sí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</a:tr>
              <a:tr h="49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E2E8F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Acceso por organización y bitácora inmutable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94A3B8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Variable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400"/>
                        <a:buFont typeface="Geist"/>
                        <a:buNone/>
                      </a:pPr>
                      <a:r>
                        <a:rPr lang="en-US" sz="14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Sí, RLS y triggers</a:t>
                      </a:r>
                      <a:endParaRPr sz="14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114300" marB="114300" marR="152400" marL="152400">
                    <a:lnL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93B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349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PODOCARE · Elaboración propia por categoría, sin nombrar productos · Expone: Emily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189" name="Google Shape;189;p7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PRODUCTO EN ACCIÓN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96" name="Google Shape;196;p8"/>
          <p:cNvSpPr txBox="1"/>
          <p:nvPr>
            <p:ph type="title"/>
          </p:nvPr>
        </p:nvSpPr>
        <p:spPr>
          <a:xfrm>
            <a:off x="812800" y="1188641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ist"/>
              <a:buNone/>
            </a:pPr>
            <a:r>
              <a:rPr b="1" i="0" lang="en-US" sz="30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La nueva landing muestra el producto funcionando</a:t>
            </a:r>
            <a:endParaRPr sz="3000"/>
          </a:p>
        </p:txBody>
      </p:sp>
      <p:pic>
        <p:nvPicPr>
          <p:cNvPr descr="foot"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2330450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/>
          <p:nvPr/>
        </p:nvSpPr>
        <p:spPr>
          <a:xfrm>
            <a:off x="1295400" y="2330450"/>
            <a:ext cx="4735322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Geist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Visor 3D del pie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295400" y="2612330"/>
            <a:ext cx="4735322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Al tocar el modelo detecta la zona anatómica, igual que en la ficha.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activity" id="200" name="Google Shape;20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3303091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/>
          <p:nvPr/>
        </p:nvSpPr>
        <p:spPr>
          <a:xfrm>
            <a:off x="1295400" y="3303091"/>
            <a:ext cx="4735322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Geist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Mapa de calor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1295400" y="3584972"/>
            <a:ext cx="4735322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Los hallazgos de la cartera se tiñen sobre la planta del pie 3D.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hart" id="203" name="Google Shape;20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0" y="4275733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1295400" y="4275733"/>
            <a:ext cx="4735322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Geist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Simulador de cartera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295400" y="4557613"/>
            <a:ext cx="473532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Cuántos controles al mes genera cada categoría IWGDF.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299200" y="2330450"/>
            <a:ext cx="5080000" cy="3753842"/>
          </a:xfrm>
          <a:prstGeom prst="roundRect">
            <a:avLst>
              <a:gd fmla="val 406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6553200" y="2584450"/>
            <a:ext cx="470916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Cartera por categoría IWGDF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553200" y="2917130"/>
            <a:ext cx="470916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ist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30 </a:t>
            </a:r>
            <a:r>
              <a:rPr b="1" i="0" lang="en-US" sz="48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pacientes</a:t>
            </a:r>
            <a:endParaRPr b="0" i="0" sz="4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553200" y="3628330"/>
            <a:ext cx="470916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7 pacientes</a:t>
            </a:r>
            <a:r>
              <a:rPr b="0" i="0" lang="en-US" sz="13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 deben volver cada 6 meses o menos.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553200" y="3961011"/>
            <a:ext cx="2133005" cy="127000"/>
          </a:xfrm>
          <a:custGeom>
            <a:rect b="b" l="l" r="r" t="t"/>
            <a:pathLst>
              <a:path extrusionOk="0" h="127000" w="2133005">
                <a:moveTo>
                  <a:pt x="0" y="63500"/>
                </a:moveTo>
                <a:cubicBezTo>
                  <a:pt x="0" y="28430"/>
                  <a:pt x="28430" y="0"/>
                  <a:pt x="63500" y="0"/>
                </a:cubicBezTo>
                <a:lnTo>
                  <a:pt x="2133005" y="0"/>
                </a:lnTo>
                <a:lnTo>
                  <a:pt x="2133005" y="127000"/>
                </a:lnTo>
                <a:lnTo>
                  <a:pt x="63500" y="127000"/>
                </a:lnTo>
                <a:cubicBezTo>
                  <a:pt x="28430" y="127000"/>
                  <a:pt x="0" y="98570"/>
                  <a:pt x="0" y="63500"/>
                </a:cubic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8686205" y="3961011"/>
            <a:ext cx="1370211" cy="127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10056416" y="3961011"/>
            <a:ext cx="762794" cy="127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10819209" y="3961011"/>
            <a:ext cx="305991" cy="127000"/>
          </a:xfrm>
          <a:custGeom>
            <a:rect b="b" l="l" r="r" t="t"/>
            <a:pathLst>
              <a:path extrusionOk="0" h="127000" w="305991">
                <a:moveTo>
                  <a:pt x="242491" y="0"/>
                </a:moveTo>
                <a:cubicBezTo>
                  <a:pt x="259332" y="0"/>
                  <a:pt x="275484" y="6690"/>
                  <a:pt x="287392" y="18599"/>
                </a:cubicBezTo>
                <a:cubicBezTo>
                  <a:pt x="299301" y="30507"/>
                  <a:pt x="305991" y="46659"/>
                  <a:pt x="305991" y="63500"/>
                </a:cubicBezTo>
                <a:lnTo>
                  <a:pt x="305991" y="63500"/>
                </a:lnTo>
                <a:cubicBezTo>
                  <a:pt x="305991" y="98570"/>
                  <a:pt x="277561" y="127000"/>
                  <a:pt x="242491" y="127000"/>
                </a:cubicBez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4" name="Google Shape;214;p8"/>
          <p:cNvCxnSpPr/>
          <p:nvPr/>
        </p:nvCxnSpPr>
        <p:spPr>
          <a:xfrm>
            <a:off x="6553200" y="4192786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8"/>
          <p:cNvSpPr/>
          <p:nvPr/>
        </p:nvSpPr>
        <p:spPr>
          <a:xfrm>
            <a:off x="6553200" y="4284861"/>
            <a:ext cx="258068" cy="238720"/>
          </a:xfrm>
          <a:prstGeom prst="roundRect">
            <a:avLst>
              <a:gd fmla="val 2128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925568" y="4288631"/>
            <a:ext cx="4029255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Muy bajo</a:t>
            </a:r>
            <a:r>
              <a:rPr b="0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b="0" i="0" lang="en-US" sz="13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· cada 12 meses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0951766" y="4288631"/>
            <a:ext cx="224234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14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218" name="Google Shape;218;p8"/>
          <p:cNvCxnSpPr/>
          <p:nvPr/>
        </p:nvCxnSpPr>
        <p:spPr>
          <a:xfrm>
            <a:off x="6553200" y="4628356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8"/>
          <p:cNvSpPr/>
          <p:nvPr/>
        </p:nvSpPr>
        <p:spPr>
          <a:xfrm>
            <a:off x="6553200" y="4720431"/>
            <a:ext cx="220861" cy="238720"/>
          </a:xfrm>
          <a:prstGeom prst="roundRect">
            <a:avLst>
              <a:gd fmla="val 23001" name="adj"/>
            </a:avLst>
          </a:prstGeom>
          <a:solidFill>
            <a:srgbClr val="14B8A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888361" y="4724202"/>
            <a:ext cx="4141056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Bajo</a:t>
            </a:r>
            <a:r>
              <a:rPr b="0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b="0" i="0" lang="en-US" sz="13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· cada 6–12 meses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1023104" y="4724202"/>
            <a:ext cx="152896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9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222" name="Google Shape;222;p8"/>
          <p:cNvCxnSpPr/>
          <p:nvPr/>
        </p:nvCxnSpPr>
        <p:spPr>
          <a:xfrm>
            <a:off x="6553200" y="5063927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8"/>
          <p:cNvSpPr/>
          <p:nvPr/>
        </p:nvSpPr>
        <p:spPr>
          <a:xfrm>
            <a:off x="6553200" y="5156002"/>
            <a:ext cx="252016" cy="238720"/>
          </a:xfrm>
          <a:prstGeom prst="roundRect">
            <a:avLst>
              <a:gd fmla="val 2128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919516" y="5159772"/>
            <a:ext cx="410252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Moderado</a:t>
            </a:r>
            <a:r>
              <a:rPr b="0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b="0" i="0" lang="en-US" sz="13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· cada 3–6 meses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1016853" y="5159772"/>
            <a:ext cx="159147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226" name="Google Shape;226;p8"/>
          <p:cNvCxnSpPr/>
          <p:nvPr/>
        </p:nvCxnSpPr>
        <p:spPr>
          <a:xfrm>
            <a:off x="6553200" y="5499497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8"/>
          <p:cNvSpPr/>
          <p:nvPr/>
        </p:nvSpPr>
        <p:spPr>
          <a:xfrm>
            <a:off x="6553200" y="5591572"/>
            <a:ext cx="251520" cy="238720"/>
          </a:xfrm>
          <a:prstGeom prst="roundRect">
            <a:avLst>
              <a:gd fmla="val 2128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919020" y="5595342"/>
            <a:ext cx="410539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Alto</a:t>
            </a:r>
            <a:r>
              <a:rPr b="0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b="0" i="0" lang="en-US" sz="13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· cada 1–3 meses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1019135" y="5595342"/>
            <a:ext cx="156865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9417050" y="1905000"/>
            <a:ext cx="19621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Datos de ejemplo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Landing en vista previa, pendiente de fusionar el PR · Expone: Martin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233" name="Google Shape;233;p8"/>
          <p:cNvPicPr preferRelativeResize="0"/>
          <p:nvPr/>
        </p:nvPicPr>
        <p:blipFill rotWithShape="1">
          <a:blip r:embed="rId6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EL CLIENTE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40" name="Google Shape;240;p9"/>
          <p:cNvSpPr txBox="1"/>
          <p:nvPr>
            <p:ph type="title"/>
          </p:nvPr>
        </p:nvSpPr>
        <p:spPr>
          <a:xfrm>
            <a:off x="812800" y="1188641"/>
            <a:ext cx="108833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ist"/>
              <a:buNone/>
            </a:pPr>
            <a:r>
              <a:rPr b="1" i="0" lang="en-US" sz="30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Podólogos independientes, con un cliente real que valida el producto</a:t>
            </a:r>
            <a:endParaRPr sz="3000"/>
          </a:p>
        </p:txBody>
      </p:sp>
      <p:sp>
        <p:nvSpPr>
          <p:cNvPr id="241" name="Google Shape;241;p9"/>
          <p:cNvSpPr/>
          <p:nvPr/>
        </p:nvSpPr>
        <p:spPr>
          <a:xfrm>
            <a:off x="815975" y="2333625"/>
            <a:ext cx="5181600" cy="2190750"/>
          </a:xfrm>
          <a:prstGeom prst="roundRect">
            <a:avLst>
              <a:gd fmla="val 449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1123950" y="2641600"/>
            <a:ext cx="470262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Geist"/>
              <a:buNone/>
            </a:pPr>
            <a:r>
              <a:rPr b="1" i="0" lang="en-US" sz="20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Cliente objetivo</a:t>
            </a:r>
            <a:endParaRPr b="0" i="0" sz="20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195070" y="3073400"/>
            <a:ext cx="4623879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Geist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Negocios unipersonales o equipos de 1 a 2 profesionales</a:t>
            </a:r>
            <a:endParaRPr b="0" i="0" sz="15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Geist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Hoy registran en papel o planillas</a:t>
            </a:r>
            <a:endParaRPr b="0" i="0" sz="15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Geist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Necesitan cumplir la Ley N.º 19.628</a:t>
            </a:r>
            <a:endParaRPr b="0" i="0" sz="15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6203950" y="2330450"/>
            <a:ext cx="5175250" cy="2197100"/>
          </a:xfrm>
          <a:prstGeom prst="roundRect">
            <a:avLst>
              <a:gd fmla="val 462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6508750" y="2635250"/>
            <a:ext cx="470262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000"/>
              <a:buFont typeface="Geist"/>
              <a:buNone/>
            </a:pPr>
            <a:r>
              <a:rPr b="1" i="0" lang="en-US" sz="20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Cliente piloto</a:t>
            </a:r>
            <a:endParaRPr b="0" i="0" sz="20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6579870" y="3067050"/>
            <a:ext cx="4623879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Geist"/>
              <a:buChar char="•"/>
            </a:pPr>
            <a:r>
              <a:rPr b="0" i="0" lang="en-US" sz="15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Consulta de podología real en la Región Metropolitana</a:t>
            </a:r>
            <a:endParaRPr b="0" i="0" sz="15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Geist"/>
              <a:buChar char="•"/>
            </a:pPr>
            <a:r>
              <a:rPr b="0" i="0" lang="en-US" sz="15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Valida requerimientos durante el desarrollo</a:t>
            </a:r>
            <a:endParaRPr b="0" i="0" sz="15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Geist"/>
              <a:buChar char="•"/>
            </a:pPr>
            <a:r>
              <a:rPr b="0" i="0" lang="en-US" sz="15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Prueba el sistema en la fase de validación</a:t>
            </a:r>
            <a:endParaRPr b="0" i="0" sz="15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Expone: Emily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249" name="Google Shape;249;p9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MODELO DE NEGOCIO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56" name="Google Shape;256;p10"/>
          <p:cNvSpPr txBox="1"/>
          <p:nvPr>
            <p:ph type="title"/>
          </p:nvPr>
        </p:nvSpPr>
        <p:spPr>
          <a:xfrm>
            <a:off x="812800" y="1188641"/>
            <a:ext cx="108833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ist"/>
              <a:buNone/>
            </a:pPr>
            <a:r>
              <a:rPr b="1" i="0" lang="en-US" sz="30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Suscripción mensual, desde un profesional hasta una clínica</a:t>
            </a:r>
            <a:endParaRPr sz="3000"/>
          </a:p>
        </p:txBody>
      </p:sp>
      <p:sp>
        <p:nvSpPr>
          <p:cNvPr id="257" name="Google Shape;257;p10"/>
          <p:cNvSpPr/>
          <p:nvPr/>
        </p:nvSpPr>
        <p:spPr>
          <a:xfrm>
            <a:off x="815975" y="2333625"/>
            <a:ext cx="5168900" cy="3102570"/>
          </a:xfrm>
          <a:prstGeom prst="roundRect">
            <a:avLst>
              <a:gd fmla="val 399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1123950" y="2641600"/>
            <a:ext cx="468953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INDIVIDUAL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123950" y="3017441"/>
            <a:ext cx="4689539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500"/>
              <a:buFont typeface="Geist"/>
              <a:buNone/>
            </a:pPr>
            <a:r>
              <a:rPr b="1" i="0" lang="en-US" sz="55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USD 15</a:t>
            </a:r>
            <a:r>
              <a:rPr b="1" i="0" lang="en-US" sz="55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 /mes</a:t>
            </a:r>
            <a:endParaRPr b="0" i="0" sz="55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123950" y="3842941"/>
            <a:ext cx="4689539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Geist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Tu propia consulta, administrada solo por ti.</a:t>
            </a:r>
            <a:endParaRPr b="0" i="0" sz="15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197600" y="2336800"/>
            <a:ext cx="5175250" cy="3096220"/>
          </a:xfrm>
          <a:prstGeom prst="roundRect">
            <a:avLst>
              <a:gd fmla="val 3897" name="adj"/>
            </a:avLst>
          </a:prstGeom>
          <a:solidFill>
            <a:srgbClr val="0F172A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6508750" y="2668290"/>
            <a:ext cx="112514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CLÍNICA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9883676" y="2647950"/>
            <a:ext cx="1178024" cy="289520"/>
          </a:xfrm>
          <a:custGeom>
            <a:rect b="b" l="l" r="r" t="t"/>
            <a:pathLst>
              <a:path extrusionOk="0" h="289520" w="1178024">
                <a:moveTo>
                  <a:pt x="144760" y="0"/>
                </a:moveTo>
                <a:lnTo>
                  <a:pt x="1033264" y="0"/>
                </a:lnTo>
                <a:cubicBezTo>
                  <a:pt x="1071657" y="0"/>
                  <a:pt x="1108477" y="15251"/>
                  <a:pt x="1135625" y="42399"/>
                </a:cubicBezTo>
                <a:cubicBezTo>
                  <a:pt x="1162773" y="69547"/>
                  <a:pt x="1178024" y="106367"/>
                  <a:pt x="1178024" y="144760"/>
                </a:cubicBezTo>
                <a:lnTo>
                  <a:pt x="1178024" y="144760"/>
                </a:lnTo>
                <a:cubicBezTo>
                  <a:pt x="1178024" y="224709"/>
                  <a:pt x="1113213" y="289520"/>
                  <a:pt x="1033264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5EEAD4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42F2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42F2E"/>
                </a:solidFill>
                <a:latin typeface="Geist"/>
                <a:ea typeface="Geist"/>
                <a:cs typeface="Geist"/>
                <a:sym typeface="Geist"/>
              </a:rPr>
              <a:t>Para equipos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508750" y="3064470"/>
            <a:ext cx="4689539" cy="1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Geist"/>
              <a:buNone/>
            </a:pPr>
            <a:r>
              <a:rPr b="1" i="0" lang="en-US" sz="55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USD 18</a:t>
            </a:r>
            <a:r>
              <a:rPr b="1" i="0" lang="en-US" sz="55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 /mes por podólogo</a:t>
            </a:r>
            <a:endParaRPr b="0" i="0" sz="55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508750" y="4768720"/>
            <a:ext cx="4689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Geist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Pacientes y agenda compartidos, administración centralizada y auditoría común.</a:t>
            </a:r>
            <a:endParaRPr b="0" i="0" sz="15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Precios del registro actual · Expone: Emily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268" name="Google Shape;268;p10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ARQUITECTURA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75" name="Google Shape;275;p11"/>
          <p:cNvSpPr txBox="1"/>
          <p:nvPr>
            <p:ph type="title"/>
          </p:nvPr>
        </p:nvSpPr>
        <p:spPr>
          <a:xfrm>
            <a:off x="812800" y="11886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Geist"/>
              <a:buNone/>
            </a:pPr>
            <a:r>
              <a:rPr b="1" i="0" lang="en-US" sz="3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Next.js en Vercel sobre Supabase</a:t>
            </a:r>
            <a:endParaRPr sz="3600"/>
          </a:p>
        </p:txBody>
      </p:sp>
      <p:sp>
        <p:nvSpPr>
          <p:cNvPr id="276" name="Google Shape;276;p11"/>
          <p:cNvSpPr/>
          <p:nvPr/>
        </p:nvSpPr>
        <p:spPr>
          <a:xfrm>
            <a:off x="815975" y="1946275"/>
            <a:ext cx="2343150" cy="2119610"/>
          </a:xfrm>
          <a:prstGeom prst="roundRect">
            <a:avLst>
              <a:gd fmla="val 46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1022350" y="2152650"/>
            <a:ext cx="198831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CLIENTE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1022350" y="2454870"/>
            <a:ext cx="1988312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Geist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Navegador</a:t>
            </a:r>
            <a:endParaRPr b="0" i="0" sz="17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1022350" y="2802830"/>
            <a:ext cx="1988312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Podólogo o administrador, por HTTPS. Visor 3D con Three.js.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Three.js" id="280" name="Google Shape;2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350" y="3531691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row-right" id="281" name="Google Shape;28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9300" y="2917130"/>
            <a:ext cx="304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1"/>
          <p:cNvSpPr/>
          <p:nvPr/>
        </p:nvSpPr>
        <p:spPr>
          <a:xfrm>
            <a:off x="3721100" y="1943100"/>
            <a:ext cx="3543300" cy="2125960"/>
          </a:xfrm>
          <a:prstGeom prst="roundRect">
            <a:avLst>
              <a:gd fmla="val 4779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3924300" y="2153940"/>
            <a:ext cx="9301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VERCEL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Vercel" id="284" name="Google Shape;28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2600" y="21463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1"/>
          <p:cNvSpPr/>
          <p:nvPr/>
        </p:nvSpPr>
        <p:spPr>
          <a:xfrm>
            <a:off x="3924300" y="2463800"/>
            <a:ext cx="3231007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ist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Next.js 16</a:t>
            </a:r>
            <a:endParaRPr b="0" i="0" sz="17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4023106" y="2811760"/>
            <a:ext cx="3124581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55194" lvl="0" marL="15519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Geist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proxy.ts protege las rutas privadas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55194" lvl="0" marL="15519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Geist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Server Actions con validación Zod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55194" lvl="0" marL="15519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Geist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clinical-rules.ts: reglas IWGDF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Next.js" id="287" name="Google Shape;28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4300" y="3586460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ypeScript" id="288" name="Google Shape;28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8000" y="3586460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ilwind CSS" id="289" name="Google Shape;289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1700" y="3586460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Zod" id="290" name="Google Shape;290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05400" y="3586460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row-right" id="291" name="Google Shape;29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2917130"/>
            <a:ext cx="304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1"/>
          <p:cNvSpPr/>
          <p:nvPr/>
        </p:nvSpPr>
        <p:spPr>
          <a:xfrm>
            <a:off x="7826375" y="1946275"/>
            <a:ext cx="3549650" cy="2119610"/>
          </a:xfrm>
          <a:prstGeom prst="roundRect">
            <a:avLst>
              <a:gd fmla="val 46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8032750" y="2152650"/>
            <a:ext cx="323100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SUPABASE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8032750" y="2454870"/>
            <a:ext cx="3231007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Geist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Auth y PostgreSQL</a:t>
            </a:r>
            <a:endParaRPr b="0" i="0" sz="17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8131556" y="2802830"/>
            <a:ext cx="3124581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55194" lvl="0" marL="15519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Auth con verificación en dos pasos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55194" lvl="0" marL="15519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RLS por organización en cada tabla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55194" lvl="0" marL="155194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Triggers de auditoría inmutable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Supabase" id="296" name="Google Shape;296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32750" y="3577530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stgreSQL" id="297" name="Google Shape;297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26450" y="357753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1"/>
          <p:cNvSpPr/>
          <p:nvPr/>
        </p:nvSpPr>
        <p:spPr>
          <a:xfrm>
            <a:off x="819150" y="4329410"/>
            <a:ext cx="3424734" cy="495300"/>
          </a:xfrm>
          <a:prstGeom prst="roundRect">
            <a:avLst>
              <a:gd fmla="val 14103" name="adj"/>
            </a:avLst>
          </a:prstGeom>
          <a:noFill/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itHub" id="299" name="Google Shape;299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7900" y="4450060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1"/>
          <p:cNvSpPr/>
          <p:nvPr/>
        </p:nvSpPr>
        <p:spPr>
          <a:xfrm>
            <a:off x="1346200" y="4470400"/>
            <a:ext cx="260377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GitHub · ramas y pull requests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383584" y="4329410"/>
            <a:ext cx="3424833" cy="495300"/>
          </a:xfrm>
          <a:prstGeom prst="roundRect">
            <a:avLst>
              <a:gd fmla="val 14103" name="adj"/>
            </a:avLst>
          </a:prstGeom>
          <a:noFill/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itHub Actions" id="302" name="Google Shape;302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42334" y="4450060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1"/>
          <p:cNvSpPr/>
          <p:nvPr/>
        </p:nvSpPr>
        <p:spPr>
          <a:xfrm>
            <a:off x="4910634" y="4470400"/>
            <a:ext cx="289143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GitHub Actions · lint, build y Docker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7948116" y="4329410"/>
            <a:ext cx="3424734" cy="495300"/>
          </a:xfrm>
          <a:prstGeom prst="roundRect">
            <a:avLst>
              <a:gd fmla="val 14103" name="adj"/>
            </a:avLst>
          </a:prstGeom>
          <a:noFill/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ocker" id="305" name="Google Shape;305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106866" y="4450060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1"/>
          <p:cNvSpPr/>
          <p:nvPr/>
        </p:nvSpPr>
        <p:spPr>
          <a:xfrm>
            <a:off x="8475166" y="4470400"/>
            <a:ext cx="258175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Docker · entorno reproducible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Despliegue continuo: cada merge a main publica en Vercel · Expone: Martin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309" name="Google Shape;309;p11"/>
          <p:cNvPicPr preferRelativeResize="0"/>
          <p:nvPr/>
        </p:nvPicPr>
        <p:blipFill rotWithShape="1">
          <a:blip r:embed="rId15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ESTRUCTURA DEL CÓDIGO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16" name="Google Shape;316;p12"/>
          <p:cNvSpPr txBox="1"/>
          <p:nvPr>
            <p:ph type="title"/>
          </p:nvPr>
        </p:nvSpPr>
        <p:spPr>
          <a:xfrm>
            <a:off x="812800" y="1188641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ist"/>
              <a:buNone/>
            </a:pPr>
            <a:r>
              <a:rPr b="1" i="0" lang="en-US" sz="30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Cuatro capas, de la ruta a la base de datos</a:t>
            </a:r>
            <a:endParaRPr sz="3000"/>
          </a:p>
        </p:txBody>
      </p:sp>
      <p:sp>
        <p:nvSpPr>
          <p:cNvPr id="317" name="Google Shape;317;p12"/>
          <p:cNvSpPr/>
          <p:nvPr/>
        </p:nvSpPr>
        <p:spPr>
          <a:xfrm>
            <a:off x="815975" y="1838325"/>
            <a:ext cx="10560050" cy="791071"/>
          </a:xfrm>
          <a:prstGeom prst="roundRect">
            <a:avLst>
              <a:gd fmla="val 124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1022350" y="1993900"/>
            <a:ext cx="2485390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Geist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1 · Entrada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1022350" y="2275780"/>
            <a:ext cx="24853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Sesión y rutas privadas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3638550" y="2076351"/>
            <a:ext cx="1300559" cy="314920"/>
          </a:xfrm>
          <a:prstGeom prst="roundRect">
            <a:avLst>
              <a:gd fmla="val 1613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src/proxy.ts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arrow-down" id="321" name="Google Shape;3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7100" y="2683371"/>
            <a:ext cx="1778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2"/>
          <p:cNvSpPr/>
          <p:nvPr/>
        </p:nvSpPr>
        <p:spPr>
          <a:xfrm>
            <a:off x="815975" y="2889746"/>
            <a:ext cx="10560050" cy="791071"/>
          </a:xfrm>
          <a:prstGeom prst="roundRect">
            <a:avLst>
              <a:gd fmla="val 124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1022350" y="3045321"/>
            <a:ext cx="2485390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Geist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2 · Interfaz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1022350" y="3327202"/>
            <a:ext cx="24853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Páginas y componentes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3638550" y="3127772"/>
            <a:ext cx="934740" cy="314920"/>
          </a:xfrm>
          <a:prstGeom prst="roundRect">
            <a:avLst>
              <a:gd fmla="val 1613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src/app/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4662190" y="3127772"/>
            <a:ext cx="1391940" cy="314920"/>
          </a:xfrm>
          <a:prstGeom prst="roundRect">
            <a:avLst>
              <a:gd fmla="val 1613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src/features/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6143030" y="3127772"/>
            <a:ext cx="2214959" cy="314920"/>
          </a:xfrm>
          <a:prstGeom prst="roundRect">
            <a:avLst>
              <a:gd fmla="val 1613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src/components/common/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arrow-down" id="328" name="Google Shape;3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7100" y="3734792"/>
            <a:ext cx="1778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2"/>
          <p:cNvSpPr/>
          <p:nvPr/>
        </p:nvSpPr>
        <p:spPr>
          <a:xfrm>
            <a:off x="815975" y="3941167"/>
            <a:ext cx="10560050" cy="791071"/>
          </a:xfrm>
          <a:prstGeom prst="roundRect">
            <a:avLst>
              <a:gd fmla="val 12442" name="adj"/>
            </a:avLst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1022350" y="4096742"/>
            <a:ext cx="2485390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600"/>
              <a:buFont typeface="Geist"/>
              <a:buNone/>
            </a:pPr>
            <a:r>
              <a:rPr b="1" i="0" lang="en-US" sz="16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3 · Lógica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1022350" y="4378623"/>
            <a:ext cx="24853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Escritura validada en el servidor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3638550" y="4179193"/>
            <a:ext cx="1666280" cy="314920"/>
          </a:xfrm>
          <a:prstGeom prst="roundRect">
            <a:avLst>
              <a:gd fmla="val 161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Geist Mono"/>
                <a:ea typeface="Geist Mono"/>
                <a:cs typeface="Geist Mono"/>
                <a:sym typeface="Geist Mono"/>
              </a:rPr>
              <a:t>src/app/actions/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5393730" y="4179193"/>
            <a:ext cx="2032000" cy="314920"/>
          </a:xfrm>
          <a:prstGeom prst="roundRect">
            <a:avLst>
              <a:gd fmla="val 161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Geist Mono"/>
                <a:ea typeface="Geist Mono"/>
                <a:cs typeface="Geist Mono"/>
                <a:sym typeface="Geist Mono"/>
              </a:rPr>
              <a:t>src/lib/validations/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7514630" y="4179193"/>
            <a:ext cx="2489200" cy="314920"/>
          </a:xfrm>
          <a:prstGeom prst="roundRect">
            <a:avLst>
              <a:gd fmla="val 1613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Geist Mono"/>
                <a:ea typeface="Geist Mono"/>
                <a:cs typeface="Geist Mono"/>
                <a:sym typeface="Geist Mono"/>
              </a:rPr>
              <a:t>src/lib/clinical-rules.ts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arrow-down" id="335" name="Google Shape;3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7100" y="4786213"/>
            <a:ext cx="1778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2"/>
          <p:cNvSpPr/>
          <p:nvPr/>
        </p:nvSpPr>
        <p:spPr>
          <a:xfrm>
            <a:off x="815975" y="4992588"/>
            <a:ext cx="10560050" cy="791071"/>
          </a:xfrm>
          <a:prstGeom prst="roundRect">
            <a:avLst>
              <a:gd fmla="val 124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1022350" y="5148163"/>
            <a:ext cx="2485390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Geist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4 · Datos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022350" y="5430044"/>
            <a:ext cx="248539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Supabase con RLS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3638550" y="5230614"/>
            <a:ext cx="1757759" cy="314920"/>
          </a:xfrm>
          <a:prstGeom prst="roundRect">
            <a:avLst>
              <a:gd fmla="val 1613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src/lib/supabase/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5485209" y="5230614"/>
            <a:ext cx="1666280" cy="314920"/>
          </a:xfrm>
          <a:prstGeom prst="roundRect">
            <a:avLst>
              <a:gd fmla="val 1613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PostgreSQL + RLS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Repositorio MarceloCaballeroo/CAPSTONE · Expone: Martin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343" name="Google Shape;343;p12"/>
          <p:cNvPicPr preferRelativeResize="0"/>
          <p:nvPr/>
        </p:nvPicPr>
        <p:blipFill rotWithShape="1">
          <a:blip r:embed="rId4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TECNOLOGÍAS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50" name="Google Shape;350;p13"/>
          <p:cNvSpPr txBox="1"/>
          <p:nvPr>
            <p:ph type="title"/>
          </p:nvPr>
        </p:nvSpPr>
        <p:spPr>
          <a:xfrm>
            <a:off x="812800" y="11886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Geist"/>
              <a:buNone/>
            </a:pPr>
            <a:r>
              <a:rPr b="1" i="0" lang="en-US" sz="3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El stack de PodoCare, por capa</a:t>
            </a:r>
            <a:endParaRPr sz="3600"/>
          </a:p>
        </p:txBody>
      </p:sp>
      <p:sp>
        <p:nvSpPr>
          <p:cNvPr id="351" name="Google Shape;351;p13"/>
          <p:cNvSpPr/>
          <p:nvPr/>
        </p:nvSpPr>
        <p:spPr>
          <a:xfrm>
            <a:off x="815975" y="1971675"/>
            <a:ext cx="2520950" cy="3813175"/>
          </a:xfrm>
          <a:prstGeom prst="roundRect">
            <a:avLst>
              <a:gd fmla="val 491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1047750" y="2203450"/>
            <a:ext cx="211912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FRONTEND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Next.js" id="353" name="Google Shape;3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2666901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3"/>
          <p:cNvSpPr/>
          <p:nvPr/>
        </p:nvSpPr>
        <p:spPr>
          <a:xfrm>
            <a:off x="1441450" y="2569170"/>
            <a:ext cx="1631255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Next.js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441450" y="2830711"/>
            <a:ext cx="18923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Rutas y Server Actions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TypeScript" id="356" name="Google Shape;3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329416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3"/>
          <p:cNvSpPr/>
          <p:nvPr/>
        </p:nvSpPr>
        <p:spPr>
          <a:xfrm>
            <a:off x="1441450" y="3196431"/>
            <a:ext cx="165973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TypeScript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1441450" y="3457972"/>
            <a:ext cx="18923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Tipos en todo el código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Tailwind CSS" id="359" name="Google Shape;35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3921423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3"/>
          <p:cNvSpPr/>
          <p:nvPr/>
        </p:nvSpPr>
        <p:spPr>
          <a:xfrm>
            <a:off x="1441450" y="3823692"/>
            <a:ext cx="1328023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Tailwind CSS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1441450" y="4085233"/>
            <a:ext cx="115748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Sistema visual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Three.js" id="362" name="Google Shape;36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50" y="4548684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/>
          <p:nvPr/>
        </p:nvSpPr>
        <p:spPr>
          <a:xfrm>
            <a:off x="1441450" y="4450953"/>
            <a:ext cx="1144488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Three.js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1441450" y="4712494"/>
            <a:ext cx="131242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Visor 3D del pie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Zod" id="365" name="Google Shape;36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750" y="5175945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3"/>
          <p:cNvSpPr/>
          <p:nvPr/>
        </p:nvSpPr>
        <p:spPr>
          <a:xfrm>
            <a:off x="1441450" y="5078214"/>
            <a:ext cx="767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Zod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1441450" y="5339755"/>
            <a:ext cx="8597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Validación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3495675" y="1971675"/>
            <a:ext cx="2520950" cy="3813175"/>
          </a:xfrm>
          <a:prstGeom prst="roundRect">
            <a:avLst>
              <a:gd fmla="val 491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3727450" y="2203450"/>
            <a:ext cx="211912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DATOS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Supabase" id="370" name="Google Shape;37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27450" y="2666901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3"/>
          <p:cNvSpPr/>
          <p:nvPr/>
        </p:nvSpPr>
        <p:spPr>
          <a:xfrm>
            <a:off x="4121150" y="2569170"/>
            <a:ext cx="1420515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Supabase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121150" y="2830711"/>
            <a:ext cx="164365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Auth con dos pasos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PostgreSQL" id="373" name="Google Shape;37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27450" y="329416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3"/>
          <p:cNvSpPr/>
          <p:nvPr/>
        </p:nvSpPr>
        <p:spPr>
          <a:xfrm>
            <a:off x="4121150" y="3196431"/>
            <a:ext cx="1090513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PostgreSQL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4121150" y="3457972"/>
            <a:ext cx="12476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RLS y auditoría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6175375" y="1971675"/>
            <a:ext cx="2520950" cy="3813175"/>
          </a:xfrm>
          <a:prstGeom prst="roundRect">
            <a:avLst>
              <a:gd fmla="val 491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6407150" y="2203450"/>
            <a:ext cx="211912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INFRAESTRUCTURA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Vercel" id="378" name="Google Shape;37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07150" y="2666901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3"/>
          <p:cNvSpPr/>
          <p:nvPr/>
        </p:nvSpPr>
        <p:spPr>
          <a:xfrm>
            <a:off x="6800850" y="2569170"/>
            <a:ext cx="83294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Vercel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6800850" y="2830711"/>
            <a:ext cx="93857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Producción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GitHub Actions" id="381" name="Google Shape;381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07150" y="329416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3"/>
          <p:cNvSpPr/>
          <p:nvPr/>
        </p:nvSpPr>
        <p:spPr>
          <a:xfrm>
            <a:off x="6800850" y="3196431"/>
            <a:ext cx="1474887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GitHub Actions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6800850" y="3457972"/>
            <a:ext cx="170890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Integración continua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Docker" id="384" name="Google Shape;384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07150" y="3921423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3"/>
          <p:cNvSpPr/>
          <p:nvPr/>
        </p:nvSpPr>
        <p:spPr>
          <a:xfrm>
            <a:off x="6800850" y="3823692"/>
            <a:ext cx="964605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Docker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6800850" y="4085233"/>
            <a:ext cx="10965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Entorno local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8855075" y="1971675"/>
            <a:ext cx="2520950" cy="3813175"/>
          </a:xfrm>
          <a:prstGeom prst="roundRect">
            <a:avLst>
              <a:gd fmla="val 491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9086850" y="2203450"/>
            <a:ext cx="211912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GESTIÓN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GitHub" id="389" name="Google Shape;389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86850" y="2666901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3"/>
          <p:cNvSpPr/>
          <p:nvPr/>
        </p:nvSpPr>
        <p:spPr>
          <a:xfrm>
            <a:off x="9480550" y="2569170"/>
            <a:ext cx="886916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GitHub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9480550" y="2830711"/>
            <a:ext cx="100334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Ramas y PR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Jira" id="392" name="Google Shape;392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86850" y="329416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3"/>
          <p:cNvSpPr/>
          <p:nvPr/>
        </p:nvSpPr>
        <p:spPr>
          <a:xfrm>
            <a:off x="9480550" y="3196431"/>
            <a:ext cx="122297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Jira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9480550" y="3457972"/>
            <a:ext cx="140660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Scrum y backlog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Logos: marcas registradas de sus respectivos dueños · Expone: Martin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397" name="Google Shape;397;p13"/>
          <p:cNvPicPr preferRelativeResize="0"/>
          <p:nvPr/>
        </p:nvPicPr>
        <p:blipFill rotWithShape="1">
          <a:blip r:embed="rId15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4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ANEXO TÉCNICO · ENTREGA CONTINUA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04" name="Google Shape;404;p14"/>
          <p:cNvSpPr txBox="1"/>
          <p:nvPr>
            <p:ph type="title"/>
          </p:nvPr>
        </p:nvSpPr>
        <p:spPr>
          <a:xfrm>
            <a:off x="812800" y="1127720"/>
            <a:ext cx="10883392" cy="3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Geist"/>
              <a:buNone/>
            </a:pPr>
            <a:r>
              <a:rPr b="1" i="0" lang="en-US" sz="2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De la rama a producción</a:t>
            </a:r>
            <a:endParaRPr sz="2600"/>
          </a:p>
        </p:txBody>
      </p:sp>
      <p:sp>
        <p:nvSpPr>
          <p:cNvPr id="405" name="Google Shape;405;p14"/>
          <p:cNvSpPr/>
          <p:nvPr/>
        </p:nvSpPr>
        <p:spPr>
          <a:xfrm>
            <a:off x="815975" y="2054225"/>
            <a:ext cx="1720850" cy="1390650"/>
          </a:xfrm>
          <a:prstGeom prst="roundRect">
            <a:avLst>
              <a:gd fmla="val 6164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933450" y="2448520"/>
            <a:ext cx="1536700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1 · Rama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933450" y="2669480"/>
            <a:ext cx="1536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feature/* con un cambio acotado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3025775" y="2054225"/>
            <a:ext cx="1720850" cy="1390650"/>
          </a:xfrm>
          <a:prstGeom prst="roundRect">
            <a:avLst>
              <a:gd fmla="val 6164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3143250" y="2448520"/>
            <a:ext cx="1536700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2 · Pull request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3143250" y="2669480"/>
            <a:ext cx="1536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Hacia main con la plantilla del repo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411" name="Google Shape;4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9200" y="2698750"/>
            <a:ext cx="5842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4"/>
          <p:cNvSpPr/>
          <p:nvPr/>
        </p:nvSpPr>
        <p:spPr>
          <a:xfrm>
            <a:off x="5235575" y="2054225"/>
            <a:ext cx="1720850" cy="1390650"/>
          </a:xfrm>
          <a:prstGeom prst="roundRect">
            <a:avLst>
              <a:gd fmla="val 6164" name="adj"/>
            </a:avLst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5353050" y="2448520"/>
            <a:ext cx="1536700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3 · GitHub Actions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5353050" y="2669480"/>
            <a:ext cx="1536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npm ci · lint · next build · docker build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415" name="Google Shape;4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9000" y="2698750"/>
            <a:ext cx="5842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4"/>
          <p:cNvSpPr/>
          <p:nvPr/>
        </p:nvSpPr>
        <p:spPr>
          <a:xfrm>
            <a:off x="7445375" y="2054225"/>
            <a:ext cx="1720850" cy="1390650"/>
          </a:xfrm>
          <a:prstGeom prst="roundRect">
            <a:avLst>
              <a:gd fmla="val 6164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4"/>
          <p:cNvSpPr/>
          <p:nvPr/>
        </p:nvSpPr>
        <p:spPr>
          <a:xfrm>
            <a:off x="7562850" y="2448520"/>
            <a:ext cx="1536700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4 · Revisión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7562850" y="2669480"/>
            <a:ext cx="15367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Aprobación y merge a main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419" name="Google Shape;4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8800" y="2698750"/>
            <a:ext cx="5842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4"/>
          <p:cNvSpPr/>
          <p:nvPr/>
        </p:nvSpPr>
        <p:spPr>
          <a:xfrm>
            <a:off x="9658350" y="2057400"/>
            <a:ext cx="1714500" cy="1384300"/>
          </a:xfrm>
          <a:prstGeom prst="roundRect">
            <a:avLst>
              <a:gd fmla="val 5963" name="adj"/>
            </a:avLst>
          </a:prstGeom>
          <a:solidFill>
            <a:srgbClr val="F0FDFA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9779000" y="2448520"/>
            <a:ext cx="1524000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5 · Vercel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9779000" y="2669480"/>
            <a:ext cx="1524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Publica main en producción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423" name="Google Shape;4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8600" y="2698750"/>
            <a:ext cx="5842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4"/>
          <p:cNvSpPr/>
          <p:nvPr/>
        </p:nvSpPr>
        <p:spPr>
          <a:xfrm>
            <a:off x="815975" y="3908425"/>
            <a:ext cx="3409950" cy="946150"/>
          </a:xfrm>
          <a:prstGeom prst="roundRect">
            <a:avLst>
              <a:gd fmla="val 906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4"/>
          <p:cNvSpPr/>
          <p:nvPr/>
        </p:nvSpPr>
        <p:spPr>
          <a:xfrm>
            <a:off x="933450" y="4080470"/>
            <a:ext cx="3270250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Seguro por defecto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933450" y="4301430"/>
            <a:ext cx="327025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permissions: contents read · claves públicas de ejemplo en CI, sin secretos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4391025" y="3908425"/>
            <a:ext cx="3409950" cy="946150"/>
          </a:xfrm>
          <a:prstGeom prst="roundRect">
            <a:avLst>
              <a:gd fmla="val 906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4508500" y="4080470"/>
            <a:ext cx="3270250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Sin colas viejas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4508500" y="4301430"/>
            <a:ext cx="327025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concurrency cancela la ejecución anterior de la misma rama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7966075" y="3908425"/>
            <a:ext cx="3409950" cy="946150"/>
          </a:xfrm>
          <a:prstGeom prst="roundRect">
            <a:avLst>
              <a:gd fmla="val 906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8083550" y="4080470"/>
            <a:ext cx="3270250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Mismo entorno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8083550" y="4301430"/>
            <a:ext cx="327025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dockerfile y docker-compose reproducen la app en local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.github/workflows/ci.yml · se ejecuta en push y pull request a main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435" name="Google Shape;435;p14"/>
          <p:cNvPicPr preferRelativeResize="0"/>
          <p:nvPr/>
        </p:nvPicPr>
        <p:blipFill rotWithShape="1">
          <a:blip r:embed="rId4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5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MODELO DE DATOS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42" name="Google Shape;442;p15"/>
          <p:cNvSpPr txBox="1"/>
          <p:nvPr>
            <p:ph type="title"/>
          </p:nvPr>
        </p:nvSpPr>
        <p:spPr>
          <a:xfrm>
            <a:off x="812800" y="1188641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ist"/>
              <a:buNone/>
            </a:pPr>
            <a:r>
              <a:rPr b="1" i="0" lang="en-US" sz="30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Dieciséis tablas, una organización como tenant</a:t>
            </a:r>
            <a:endParaRPr sz="3000"/>
          </a:p>
        </p:txBody>
      </p:sp>
      <p:sp>
        <p:nvSpPr>
          <p:cNvPr id="443" name="Google Shape;443;p15"/>
          <p:cNvSpPr/>
          <p:nvPr/>
        </p:nvSpPr>
        <p:spPr>
          <a:xfrm>
            <a:off x="812800" y="1911350"/>
            <a:ext cx="3378200" cy="3735983"/>
          </a:xfrm>
          <a:prstGeom prst="roundRect">
            <a:avLst>
              <a:gd fmla="val 300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1066800" y="2165350"/>
            <a:ext cx="2956306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Tenant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1151382" y="2541191"/>
            <a:ext cx="2864104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E2E8F0"/>
                </a:solidFill>
                <a:latin typeface="Geist Mono"/>
                <a:ea typeface="Geist Mono"/>
                <a:cs typeface="Geist Mono"/>
                <a:sym typeface="Geist Mono"/>
              </a:rPr>
              <a:t>organizacion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E2E8F0"/>
                </a:solidFill>
                <a:latin typeface="Geist Mono"/>
                <a:ea typeface="Geist Mono"/>
                <a:cs typeface="Geist Mono"/>
                <a:sym typeface="Geist Mono"/>
              </a:rPr>
              <a:t>usuario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1066800" y="3211711"/>
            <a:ext cx="2956306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Plan individual o clínica; roles admin y podólogo.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4397375" y="1914525"/>
            <a:ext cx="3384550" cy="3729633"/>
          </a:xfrm>
          <a:prstGeom prst="roundRect">
            <a:avLst>
              <a:gd fmla="val 29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4654550" y="2171700"/>
            <a:ext cx="2956306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Clínico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4739132" y="2547541"/>
            <a:ext cx="2864104" cy="230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paciente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ficha_clinica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ficha_antecedente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atencion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cita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contacto_emergencia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contacto_emergencia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contacto_emergencia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4654550" y="4924822"/>
            <a:ext cx="2956306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RUT único, consentimiento y diagnóstico CIE-10.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7991475" y="1914525"/>
            <a:ext cx="3384550" cy="3729633"/>
          </a:xfrm>
          <a:prstGeom prst="roundRect">
            <a:avLst>
              <a:gd fmla="val 29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8248650" y="2171700"/>
            <a:ext cx="2956306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Soporte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8333232" y="2547541"/>
            <a:ext cx="2864104" cy="230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catalogo_cie10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hallazgo_clinico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imagen_clinica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derivacion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log_auditoria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region · comuna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region · comuna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9418" lvl="0" marL="1694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Geist Mono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region · comuna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8248650" y="4924822"/>
            <a:ext cx="2956306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Catálogo CIE-10, hallazgos del pie en 3D, interconsultas y bitácora.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Normalizado y aplicado el 14-10 · Expone: Marcelo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457" name="Google Shape;457;p15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6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ANEXO TÉCNICO · DIAGRAMA DE BASE DE DATOS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64" name="Google Shape;464;p16"/>
          <p:cNvSpPr txBox="1"/>
          <p:nvPr>
            <p:ph type="title"/>
          </p:nvPr>
        </p:nvSpPr>
        <p:spPr>
          <a:xfrm>
            <a:off x="812800" y="1127720"/>
            <a:ext cx="10883392" cy="3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Geist"/>
              <a:buNone/>
            </a:pPr>
            <a:r>
              <a:rPr b="1" i="0" lang="en-US" sz="2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Organización, personas y agenda: columnas completas</a:t>
            </a:r>
            <a:endParaRPr sz="2600"/>
          </a:p>
        </p:txBody>
      </p:sp>
      <p:sp>
        <p:nvSpPr>
          <p:cNvPr id="465" name="Google Shape;465;p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Esquema de producción (PostgreSQL 17) 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467" name="Google Shape;467;p16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6" title="Modelo de datos (ERD)@2x.png"/>
          <p:cNvPicPr preferRelativeResize="0"/>
          <p:nvPr/>
        </p:nvPicPr>
        <p:blipFill rotWithShape="1">
          <a:blip r:embed="rId4">
            <a:alphaModFix/>
          </a:blip>
          <a:srcRect b="0" l="0" r="0" t="9478"/>
          <a:stretch/>
        </p:blipFill>
        <p:spPr>
          <a:xfrm>
            <a:off x="603025" y="1645552"/>
            <a:ext cx="11179402" cy="4506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7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ANEXO TÉCNICO · LÓGICA EN LA BASE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75" name="Google Shape;475;p17"/>
          <p:cNvSpPr txBox="1"/>
          <p:nvPr>
            <p:ph type="title"/>
          </p:nvPr>
        </p:nvSpPr>
        <p:spPr>
          <a:xfrm>
            <a:off x="812800" y="1127720"/>
            <a:ext cx="10883392" cy="3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Geist"/>
              <a:buNone/>
            </a:pPr>
            <a:r>
              <a:rPr b="1" i="0" lang="en-US" sz="2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Funciones, triggers y tipos enumerados</a:t>
            </a:r>
            <a:endParaRPr sz="2600"/>
          </a:p>
        </p:txBody>
      </p:sp>
      <p:sp>
        <p:nvSpPr>
          <p:cNvPr id="476" name="Google Shape;476;p17"/>
          <p:cNvSpPr/>
          <p:nvPr/>
        </p:nvSpPr>
        <p:spPr>
          <a:xfrm>
            <a:off x="815975" y="1673225"/>
            <a:ext cx="3359150" cy="3891558"/>
          </a:xfrm>
          <a:prstGeom prst="roundRect">
            <a:avLst>
              <a:gd fmla="val 29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7"/>
          <p:cNvSpPr/>
          <p:nvPr/>
        </p:nvSpPr>
        <p:spPr>
          <a:xfrm>
            <a:off x="996950" y="1854200"/>
            <a:ext cx="3087116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RPC PÚBLICAS · SECURITY DEFINER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996950" y="2331641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crear_organizacion_inicial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996950" y="2580481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invitar_a_organizacion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996950" y="2829322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admin_actualizar_usuario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996950" y="3078163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admin_actualizar_organizacion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996950" y="3327003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miembros_organizacion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996950" y="3575844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rut_valido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996950" y="3824684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validar_rut_chileno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996950" y="4175125"/>
            <a:ext cx="30871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PRIVADAS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996950" y="4439245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es_miembro_de_organizacion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996950" y="4688086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auditar_cambio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996950" y="4936927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log_auditoria_inmutable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996950" y="5185767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cita_calcular_fin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4416425" y="1673225"/>
            <a:ext cx="3359150" cy="3246636"/>
          </a:xfrm>
          <a:prstGeom prst="roundRect">
            <a:avLst>
              <a:gd fmla="val 30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4597400" y="1854200"/>
            <a:ext cx="30871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TRIGGERS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4597400" y="2118320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 Mono"/>
                <a:ea typeface="Geist Mono"/>
                <a:cs typeface="Geist Mono"/>
                <a:sym typeface="Geist Mono"/>
              </a:rPr>
              <a:t>auditar_&lt;tabla&gt; en 10 tablas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4597400" y="2468761"/>
            <a:ext cx="30871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TABLAS AUDITADAS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4597400" y="2732881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organizacion · usuario · paciente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4597400" y="2981722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ficha_clinica · ficha_antecedente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4597400" y="3230563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cita · atencion · hallazgo_clinico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4597400" y="3479403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imagen_clinica · derivacion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4597400" y="3829844"/>
            <a:ext cx="30871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OTROS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4597400" y="4093964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cita_calcular_fin → fecha_hora_fin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4597400" y="4342805"/>
            <a:ext cx="3087116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log_auditoria_no_mutar → bloquea UPDATE y DELETE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8016875" y="1673225"/>
            <a:ext cx="3359150" cy="4249738"/>
          </a:xfrm>
          <a:prstGeom prst="roundRect">
            <a:avLst>
              <a:gd fmla="val 29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7"/>
          <p:cNvSpPr/>
          <p:nvPr/>
        </p:nvSpPr>
        <p:spPr>
          <a:xfrm>
            <a:off x="8197850" y="1854200"/>
            <a:ext cx="30871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TIPOS ENUMERADOS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8197850" y="2219920"/>
            <a:ext cx="30871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 Mono"/>
                <a:ea typeface="Geist Mono"/>
                <a:cs typeface="Geist Mono"/>
                <a:sym typeface="Geist Mono"/>
              </a:rPr>
              <a:t>nivel_riesgo_iwgdf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8197850" y="2445941"/>
            <a:ext cx="3087116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muy_bajo · bajo · moderado · alto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8197850" y="2796381"/>
            <a:ext cx="30871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 Mono"/>
                <a:ea typeface="Geist Mono"/>
                <a:cs typeface="Geist Mono"/>
                <a:sym typeface="Geist Mono"/>
              </a:rPr>
              <a:t>estado_cita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8197850" y="3022402"/>
            <a:ext cx="3087116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agendada · confirmada · en_espera · atendida · cancelada · no_asiste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8197850" y="3570883"/>
            <a:ext cx="30871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 Mono"/>
                <a:ea typeface="Geist Mono"/>
                <a:cs typeface="Geist Mono"/>
                <a:sym typeface="Geist Mono"/>
              </a:rPr>
              <a:t>estado_derivacion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8197850" y="3796903"/>
            <a:ext cx="3087116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pendiente · enviada · aceptada · rechazada · completada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8197850" y="4345384"/>
            <a:ext cx="30871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 Mono"/>
                <a:ea typeface="Geist Mono"/>
                <a:cs typeface="Geist Mono"/>
                <a:sym typeface="Geist Mono"/>
              </a:rPr>
              <a:t>prevision_salud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8197850" y="4571405"/>
            <a:ext cx="3087116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fonasa_a a fonasa_d · isapre · dipreca_capredena · particular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8197850" y="5119886"/>
            <a:ext cx="30871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 Mono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 Mono"/>
                <a:ea typeface="Geist Mono"/>
                <a:cs typeface="Geist Mono"/>
                <a:sym typeface="Geist Mono"/>
              </a:rPr>
              <a:t>sexo_biologico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8197850" y="5345906"/>
            <a:ext cx="3087116" cy="42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masculino · femenino · intersexual · no_especificado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Todas las funciones con search_path fijo; anon sin EXECUTE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515" name="Google Shape;515;p17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8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SEGURIDAD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22" name="Google Shape;522;p18"/>
          <p:cNvSpPr txBox="1"/>
          <p:nvPr>
            <p:ph type="title"/>
          </p:nvPr>
        </p:nvSpPr>
        <p:spPr>
          <a:xfrm>
            <a:off x="812800" y="1188641"/>
            <a:ext cx="108833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ist"/>
              <a:buNone/>
            </a:pPr>
            <a:r>
              <a:rPr b="1" i="0" lang="en-US" sz="30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Aunque falle la aplicación, la base sigue protegiendo al paciente</a:t>
            </a:r>
            <a:endParaRPr sz="3000"/>
          </a:p>
        </p:txBody>
      </p:sp>
      <p:cxnSp>
        <p:nvCxnSpPr>
          <p:cNvPr id="523" name="Google Shape;523;p18"/>
          <p:cNvCxnSpPr/>
          <p:nvPr/>
        </p:nvCxnSpPr>
        <p:spPr>
          <a:xfrm>
            <a:off x="819150" y="2381250"/>
            <a:ext cx="0" cy="1681163"/>
          </a:xfrm>
          <a:prstGeom prst="straightConnector1">
            <a:avLst/>
          </a:prstGeom>
          <a:noFill/>
          <a:ln cap="flat" cmpd="sng" w="12700">
            <a:solidFill>
              <a:srgbClr val="2DD4B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ck" id="524" name="Google Shape;5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2381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8"/>
          <p:cNvSpPr/>
          <p:nvPr/>
        </p:nvSpPr>
        <p:spPr>
          <a:xfrm>
            <a:off x="1028700" y="2940050"/>
            <a:ext cx="3265856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Sesión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1028700" y="3315891"/>
            <a:ext cx="3265856" cy="77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Supabase Auth con verificación en dos pasos (TOTP), redirección a login y validación con Zod en el servidor.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527" name="Google Shape;527;p18"/>
          <p:cNvCxnSpPr/>
          <p:nvPr/>
        </p:nvCxnSpPr>
        <p:spPr>
          <a:xfrm>
            <a:off x="4408984" y="2381250"/>
            <a:ext cx="0" cy="1681163"/>
          </a:xfrm>
          <a:prstGeom prst="straightConnector1">
            <a:avLst/>
          </a:prstGeom>
          <a:noFill/>
          <a:ln cap="flat" cmpd="sng" w="12700">
            <a:solidFill>
              <a:srgbClr val="2DD4B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hield" id="528" name="Google Shape;52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8534" y="2381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8"/>
          <p:cNvSpPr/>
          <p:nvPr/>
        </p:nvSpPr>
        <p:spPr>
          <a:xfrm>
            <a:off x="4618534" y="2940050"/>
            <a:ext cx="3265958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Datos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4618534" y="3315891"/>
            <a:ext cx="3265958" cy="77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Row Level Security en todas las tablas: cada consulta solo ve y modifica filas de su organización.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531" name="Google Shape;531;p18"/>
          <p:cNvCxnSpPr/>
          <p:nvPr/>
        </p:nvCxnSpPr>
        <p:spPr>
          <a:xfrm>
            <a:off x="7998916" y="2381250"/>
            <a:ext cx="0" cy="1681163"/>
          </a:xfrm>
          <a:prstGeom prst="straightConnector1">
            <a:avLst/>
          </a:prstGeom>
          <a:noFill/>
          <a:ln cap="flat" cmpd="sng" w="12700">
            <a:solidFill>
              <a:srgbClr val="2DD4B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file" id="532" name="Google Shape;53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08466" y="2381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8"/>
          <p:cNvSpPr/>
          <p:nvPr/>
        </p:nvSpPr>
        <p:spPr>
          <a:xfrm>
            <a:off x="8208466" y="2940050"/>
            <a:ext cx="3265856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Trazabilidad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8208466" y="3315891"/>
            <a:ext cx="3265856" cy="77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Triggers en 10 tablas; la bitácora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no admite UPDATE ni DELETE</a:t>
            </a:r>
            <a:r>
              <a:rPr b="0" i="0" lang="en-US" sz="14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 y no guarda datos personales.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PODOCARE · La clave service_role vive solo en el servidor · Expone: Marcelo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537" name="Google Shape;537;p18"/>
          <p:cNvPicPr preferRelativeResize="0"/>
          <p:nvPr/>
        </p:nvPicPr>
        <p:blipFill rotWithShape="1">
          <a:blip r:embed="rId6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9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ANEXO TÉCNICO · SEGURIDAD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44" name="Google Shape;544;p19"/>
          <p:cNvSpPr txBox="1"/>
          <p:nvPr>
            <p:ph type="title"/>
          </p:nvPr>
        </p:nvSpPr>
        <p:spPr>
          <a:xfrm>
            <a:off x="812800" y="1127720"/>
            <a:ext cx="10883392" cy="3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Geist"/>
              <a:buNone/>
            </a:pPr>
            <a:r>
              <a:rPr b="1" i="0" lang="en-US" sz="2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Multi-tenant y Row Level Security</a:t>
            </a:r>
            <a:endParaRPr sz="2600"/>
          </a:p>
        </p:txBody>
      </p:sp>
      <p:sp>
        <p:nvSpPr>
          <p:cNvPr id="545" name="Google Shape;545;p1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Políticas de producción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547" name="Google Shape;547;p19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19" title="Multi-tenant y RLS@2x.png"/>
          <p:cNvPicPr preferRelativeResize="0"/>
          <p:nvPr/>
        </p:nvPicPr>
        <p:blipFill rotWithShape="1">
          <a:blip r:embed="rId4">
            <a:alphaModFix/>
          </a:blip>
          <a:srcRect b="5072" l="-900" r="900" t="12461"/>
          <a:stretch/>
        </p:blipFill>
        <p:spPr>
          <a:xfrm>
            <a:off x="416300" y="1554350"/>
            <a:ext cx="10454958" cy="464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ANEXO TÉCNICO · FLUJOS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55" name="Google Shape;555;p20"/>
          <p:cNvSpPr txBox="1"/>
          <p:nvPr>
            <p:ph type="title"/>
          </p:nvPr>
        </p:nvSpPr>
        <p:spPr>
          <a:xfrm>
            <a:off x="812800" y="1127720"/>
            <a:ext cx="10883392" cy="3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Geist"/>
              <a:buNone/>
            </a:pPr>
            <a:r>
              <a:rPr b="1" i="0" lang="en-US" sz="2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Registro e ingreso con verificación en dos pasos</a:t>
            </a:r>
            <a:endParaRPr sz="2600"/>
          </a:p>
        </p:txBody>
      </p:sp>
      <p:sp>
        <p:nvSpPr>
          <p:cNvPr id="556" name="Google Shape;556;p20"/>
          <p:cNvSpPr/>
          <p:nvPr/>
        </p:nvSpPr>
        <p:spPr>
          <a:xfrm>
            <a:off x="812800" y="1670050"/>
            <a:ext cx="39243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REGISTRO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815975" y="19526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0"/>
          <p:cNvSpPr/>
          <p:nvPr/>
        </p:nvSpPr>
        <p:spPr>
          <a:xfrm>
            <a:off x="933450" y="225167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1 · Formulario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933450" y="2472630"/>
            <a:ext cx="2236851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Datos validados con zod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3533775" y="19526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0"/>
          <p:cNvSpPr/>
          <p:nvPr/>
        </p:nvSpPr>
        <p:spPr>
          <a:xfrm>
            <a:off x="3651250" y="225167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2 · signUp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3651250" y="2472630"/>
            <a:ext cx="2236851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Supabase Auth crea la cuenta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563" name="Google Shape;5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000" y="2406650"/>
            <a:ext cx="4064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0"/>
          <p:cNvSpPr/>
          <p:nvPr/>
        </p:nvSpPr>
        <p:spPr>
          <a:xfrm>
            <a:off x="6251575" y="19526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0"/>
          <p:cNvSpPr/>
          <p:nvPr/>
        </p:nvSpPr>
        <p:spPr>
          <a:xfrm>
            <a:off x="6369050" y="215642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3 · RPC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6369050" y="2377380"/>
            <a:ext cx="2236851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crear_organizacion_inicial(plan)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567" name="Google Shape;5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2800" y="2406650"/>
            <a:ext cx="4064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20"/>
          <p:cNvSpPr/>
          <p:nvPr/>
        </p:nvSpPr>
        <p:spPr>
          <a:xfrm>
            <a:off x="8972550" y="1955800"/>
            <a:ext cx="2400300" cy="1003300"/>
          </a:xfrm>
          <a:prstGeom prst="roundRect">
            <a:avLst>
              <a:gd fmla="val 8228" name="adj"/>
            </a:avLst>
          </a:prstGeom>
          <a:solidFill>
            <a:srgbClr val="F0FDFA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0"/>
          <p:cNvSpPr/>
          <p:nvPr/>
        </p:nvSpPr>
        <p:spPr>
          <a:xfrm>
            <a:off x="9093200" y="2156420"/>
            <a:ext cx="2223770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4 · Organización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9093200" y="2377380"/>
            <a:ext cx="222377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Crea organización y usuario admin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571" name="Google Shape;5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2406650"/>
            <a:ext cx="4064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0"/>
          <p:cNvSpPr/>
          <p:nvPr/>
        </p:nvSpPr>
        <p:spPr>
          <a:xfrm>
            <a:off x="812800" y="3486150"/>
            <a:ext cx="39243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INGRESO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815975" y="37687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0"/>
          <p:cNvSpPr/>
          <p:nvPr/>
        </p:nvSpPr>
        <p:spPr>
          <a:xfrm>
            <a:off x="933450" y="406777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5 · Login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933450" y="4288730"/>
            <a:ext cx="2236851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signInWithPassword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3533775" y="37687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0"/>
          <p:cNvSpPr/>
          <p:nvPr/>
        </p:nvSpPr>
        <p:spPr>
          <a:xfrm>
            <a:off x="3651250" y="397252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6 · proxy.ts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3651250" y="4193480"/>
            <a:ext cx="2236851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getUser() y nivel AAL de la sesión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579" name="Google Shape;5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000" y="4222750"/>
            <a:ext cx="4064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0"/>
          <p:cNvSpPr/>
          <p:nvPr/>
        </p:nvSpPr>
        <p:spPr>
          <a:xfrm>
            <a:off x="6251575" y="37687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0"/>
          <p:cNvSpPr/>
          <p:nvPr/>
        </p:nvSpPr>
        <p:spPr>
          <a:xfrm>
            <a:off x="6369050" y="397252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7 · Dos pasos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6369050" y="4193480"/>
            <a:ext cx="2236851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Con 2FA: /login/verificar, TOTP hasta aal2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583" name="Google Shape;5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2800" y="4222750"/>
            <a:ext cx="4064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0"/>
          <p:cNvSpPr/>
          <p:nvPr/>
        </p:nvSpPr>
        <p:spPr>
          <a:xfrm>
            <a:off x="8969375" y="3768725"/>
            <a:ext cx="2406650" cy="1009650"/>
          </a:xfrm>
          <a:prstGeom prst="roundRect">
            <a:avLst>
              <a:gd fmla="val 8491" name="adj"/>
            </a:avLst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0"/>
          <p:cNvSpPr/>
          <p:nvPr/>
        </p:nvSpPr>
        <p:spPr>
          <a:xfrm>
            <a:off x="9086850" y="4067770"/>
            <a:ext cx="2236851" cy="20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8 · Dashboard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9086850" y="4288730"/>
            <a:ext cx="2236851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RLS filtra por auth.uid()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connector" id="587" name="Google Shape;5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4222750"/>
            <a:ext cx="4064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20"/>
          <p:cNvSpPr/>
          <p:nvPr/>
        </p:nvSpPr>
        <p:spPr>
          <a:xfrm>
            <a:off x="812800" y="498475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Sin 2FA basta aal1. Con 2FA, proxy.ts redirige toda ruta privada a /login/verificar hasta que la sesión llega a aal2.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src/app/actions/auth.ts · src/proxy.ts · src/app/login/verificar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591" name="Google Shape;591;p20"/>
          <p:cNvPicPr preferRelativeResize="0"/>
          <p:nvPr/>
        </p:nvPicPr>
        <p:blipFill rotWithShape="1">
          <a:blip r:embed="rId4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1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HOJA DE RUTA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98" name="Google Shape;598;p21"/>
          <p:cNvSpPr txBox="1"/>
          <p:nvPr>
            <p:ph type="title"/>
          </p:nvPr>
        </p:nvSpPr>
        <p:spPr>
          <a:xfrm>
            <a:off x="812800" y="11886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ist"/>
              <a:buNone/>
            </a:pPr>
            <a:r>
              <a:rPr b="1" i="0" lang="en-US" sz="36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Tres fases en sprints de dos semanas</a:t>
            </a:r>
            <a:endParaRPr sz="3600"/>
          </a:p>
        </p:txBody>
      </p:sp>
      <p:cxnSp>
        <p:nvCxnSpPr>
          <p:cNvPr id="599" name="Google Shape;599;p21"/>
          <p:cNvCxnSpPr/>
          <p:nvPr/>
        </p:nvCxnSpPr>
        <p:spPr>
          <a:xfrm>
            <a:off x="812800" y="2165350"/>
            <a:ext cx="3522067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0" name="Google Shape;600;p21"/>
          <p:cNvSpPr/>
          <p:nvPr/>
        </p:nvSpPr>
        <p:spPr>
          <a:xfrm>
            <a:off x="812800" y="2442170"/>
            <a:ext cx="176867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SEMANAS 1–4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01" name="Google Shape;601;p21"/>
          <p:cNvSpPr/>
          <p:nvPr/>
        </p:nvSpPr>
        <p:spPr>
          <a:xfrm>
            <a:off x="2963168" y="2413000"/>
            <a:ext cx="1117699" cy="289520"/>
          </a:xfrm>
          <a:custGeom>
            <a:rect b="b" l="l" r="r" t="t"/>
            <a:pathLst>
              <a:path extrusionOk="0" h="289520" w="1117699">
                <a:moveTo>
                  <a:pt x="144760" y="0"/>
                </a:moveTo>
                <a:lnTo>
                  <a:pt x="972939" y="0"/>
                </a:lnTo>
                <a:cubicBezTo>
                  <a:pt x="1011332" y="0"/>
                  <a:pt x="1048152" y="15251"/>
                  <a:pt x="1075300" y="42399"/>
                </a:cubicBezTo>
                <a:cubicBezTo>
                  <a:pt x="1102448" y="69547"/>
                  <a:pt x="1117699" y="106367"/>
                  <a:pt x="1117699" y="144760"/>
                </a:cubicBezTo>
                <a:lnTo>
                  <a:pt x="1117699" y="144760"/>
                </a:lnTo>
                <a:cubicBezTo>
                  <a:pt x="1117699" y="224709"/>
                  <a:pt x="1052888" y="289520"/>
                  <a:pt x="972939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Completada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812800" y="2829520"/>
            <a:ext cx="3366109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ist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Fase 1</a:t>
            </a:r>
            <a:endParaRPr b="0" i="0" sz="2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03" name="Google Shape;603;p21"/>
          <p:cNvSpPr/>
          <p:nvPr/>
        </p:nvSpPr>
        <p:spPr>
          <a:xfrm>
            <a:off x="812800" y="3322241"/>
            <a:ext cx="3366109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Requerimientos con el cliente, modelo de datos y políticas RLS.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604" name="Google Shape;604;p21"/>
          <p:cNvCxnSpPr/>
          <p:nvPr/>
        </p:nvCxnSpPr>
        <p:spPr>
          <a:xfrm>
            <a:off x="4334867" y="2165350"/>
            <a:ext cx="3522166" cy="0"/>
          </a:xfrm>
          <a:prstGeom prst="straightConnector1">
            <a:avLst/>
          </a:prstGeom>
          <a:noFill/>
          <a:ln cap="flat" cmpd="sng" w="381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p21"/>
          <p:cNvSpPr/>
          <p:nvPr/>
        </p:nvSpPr>
        <p:spPr>
          <a:xfrm>
            <a:off x="4334867" y="2442170"/>
            <a:ext cx="1933456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SEMANAS 5–12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06" name="Google Shape;606;p21"/>
          <p:cNvSpPr/>
          <p:nvPr/>
        </p:nvSpPr>
        <p:spPr>
          <a:xfrm>
            <a:off x="6744395" y="2413000"/>
            <a:ext cx="858639" cy="289520"/>
          </a:xfrm>
          <a:custGeom>
            <a:rect b="b" l="l" r="r" t="t"/>
            <a:pathLst>
              <a:path extrusionOk="0" h="289520" w="858639">
                <a:moveTo>
                  <a:pt x="144760" y="0"/>
                </a:moveTo>
                <a:lnTo>
                  <a:pt x="713879" y="0"/>
                </a:lnTo>
                <a:cubicBezTo>
                  <a:pt x="752272" y="0"/>
                  <a:pt x="789092" y="15251"/>
                  <a:pt x="816240" y="42399"/>
                </a:cubicBezTo>
                <a:cubicBezTo>
                  <a:pt x="843388" y="69547"/>
                  <a:pt x="858639" y="106367"/>
                  <a:pt x="858639" y="144760"/>
                </a:cubicBezTo>
                <a:lnTo>
                  <a:pt x="858639" y="144760"/>
                </a:lnTo>
                <a:cubicBezTo>
                  <a:pt x="858639" y="224709"/>
                  <a:pt x="793828" y="289520"/>
                  <a:pt x="713879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5EEAD4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42F2E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42F2E"/>
                </a:solidFill>
                <a:latin typeface="Geist"/>
                <a:ea typeface="Geist"/>
                <a:cs typeface="Geist"/>
                <a:sym typeface="Geist"/>
              </a:rPr>
              <a:t>En curso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07" name="Google Shape;607;p21"/>
          <p:cNvSpPr/>
          <p:nvPr/>
        </p:nvSpPr>
        <p:spPr>
          <a:xfrm>
            <a:off x="4334867" y="2829520"/>
            <a:ext cx="3366211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ist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Fase 2</a:t>
            </a:r>
            <a:endParaRPr b="0" i="0" sz="2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08" name="Google Shape;608;p21"/>
          <p:cNvSpPr/>
          <p:nvPr/>
        </p:nvSpPr>
        <p:spPr>
          <a:xfrm>
            <a:off x="4334867" y="3322241"/>
            <a:ext cx="3366211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Autenticación, agenda, ficha, visor 3D, auditoría y estratificación IWGDF.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609" name="Google Shape;609;p21"/>
          <p:cNvCxnSpPr/>
          <p:nvPr/>
        </p:nvCxnSpPr>
        <p:spPr>
          <a:xfrm>
            <a:off x="7857034" y="2165350"/>
            <a:ext cx="3522166" cy="0"/>
          </a:xfrm>
          <a:prstGeom prst="straightConnector1">
            <a:avLst/>
          </a:prstGeom>
          <a:noFill/>
          <a:ln cap="flat" cmpd="sng" w="381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0" name="Google Shape;610;p21"/>
          <p:cNvSpPr/>
          <p:nvPr/>
        </p:nvSpPr>
        <p:spPr>
          <a:xfrm>
            <a:off x="7857034" y="2442170"/>
            <a:ext cx="2047161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SEMANAS 13–18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11" name="Google Shape;611;p21"/>
          <p:cNvSpPr/>
          <p:nvPr/>
        </p:nvSpPr>
        <p:spPr>
          <a:xfrm>
            <a:off x="10304760" y="2413000"/>
            <a:ext cx="820440" cy="289520"/>
          </a:xfrm>
          <a:custGeom>
            <a:rect b="b" l="l" r="r" t="t"/>
            <a:pathLst>
              <a:path extrusionOk="0" h="289520" w="820440">
                <a:moveTo>
                  <a:pt x="144760" y="0"/>
                </a:moveTo>
                <a:lnTo>
                  <a:pt x="675680" y="0"/>
                </a:lnTo>
                <a:cubicBezTo>
                  <a:pt x="714073" y="0"/>
                  <a:pt x="750893" y="15251"/>
                  <a:pt x="778041" y="42399"/>
                </a:cubicBezTo>
                <a:cubicBezTo>
                  <a:pt x="805189" y="69547"/>
                  <a:pt x="820440" y="106367"/>
                  <a:pt x="820440" y="144760"/>
                </a:cubicBezTo>
                <a:lnTo>
                  <a:pt x="820440" y="144760"/>
                </a:lnTo>
                <a:cubicBezTo>
                  <a:pt x="820440" y="224709"/>
                  <a:pt x="755629" y="289520"/>
                  <a:pt x="675680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Próxima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12" name="Google Shape;612;p21"/>
          <p:cNvSpPr/>
          <p:nvPr/>
        </p:nvSpPr>
        <p:spPr>
          <a:xfrm>
            <a:off x="7857034" y="2829520"/>
            <a:ext cx="3366211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ist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Fase 3</a:t>
            </a:r>
            <a:endParaRPr b="0" i="0" sz="2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13" name="Google Shape;613;p21"/>
          <p:cNvSpPr/>
          <p:nvPr/>
        </p:nvSpPr>
        <p:spPr>
          <a:xfrm>
            <a:off x="7857034" y="3322241"/>
            <a:ext cx="3366211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Validación con el cliente piloto, pruebas de usabilidad e informe final.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14" name="Google Shape;614;p2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PODOCARE · Metodología Scrum · Expone: Emily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15" name="Google Shape;615;p21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616" name="Google Shape;616;p21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2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METODOLOGÍA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23" name="Google Shape;623;p22"/>
          <p:cNvSpPr txBox="1"/>
          <p:nvPr>
            <p:ph type="title"/>
          </p:nvPr>
        </p:nvSpPr>
        <p:spPr>
          <a:xfrm>
            <a:off x="812800" y="11886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Geist"/>
              <a:buNone/>
            </a:pPr>
            <a:r>
              <a:rPr b="1" i="0" lang="en-US" sz="3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Scrum con Jira, en sprints de dos semanas</a:t>
            </a:r>
            <a:endParaRPr sz="3600"/>
          </a:p>
        </p:txBody>
      </p:sp>
      <p:sp>
        <p:nvSpPr>
          <p:cNvPr id="624" name="Google Shape;624;p22"/>
          <p:cNvSpPr/>
          <p:nvPr/>
        </p:nvSpPr>
        <p:spPr>
          <a:xfrm>
            <a:off x="812800" y="2495550"/>
            <a:ext cx="6736060" cy="3154363"/>
          </a:xfrm>
          <a:prstGeom prst="roundRect">
            <a:avLst>
              <a:gd fmla="val 402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2"/>
          <p:cNvSpPr/>
          <p:nvPr/>
        </p:nvSpPr>
        <p:spPr>
          <a:xfrm>
            <a:off x="1117600" y="2800350"/>
            <a:ext cx="6310254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0"/>
              <a:buFont typeface="Geist"/>
              <a:buNone/>
            </a:pPr>
            <a:r>
              <a:rPr b="1" i="0" lang="en-US" sz="90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68%</a:t>
            </a:r>
            <a:endParaRPr b="0" i="0" sz="90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26" name="Google Shape;626;p22"/>
          <p:cNvSpPr/>
          <p:nvPr/>
        </p:nvSpPr>
        <p:spPr>
          <a:xfrm>
            <a:off x="1117600" y="4070350"/>
            <a:ext cx="643126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Geist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de las historias de usuario finalizadas: 15 de 22, con 2 en revisión.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1117600" y="4481810"/>
            <a:ext cx="6126460" cy="101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2"/>
          <p:cNvSpPr/>
          <p:nvPr/>
        </p:nvSpPr>
        <p:spPr>
          <a:xfrm>
            <a:off x="1117600" y="4481810"/>
            <a:ext cx="6126460" cy="101600"/>
          </a:xfrm>
          <a:prstGeom prst="roundRect">
            <a:avLst>
              <a:gd fmla="val 50000" name="adj"/>
            </a:avLst>
          </a:prstGeom>
          <a:solidFill>
            <a:srgbClr val="5EEA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2"/>
          <p:cNvSpPr/>
          <p:nvPr/>
        </p:nvSpPr>
        <p:spPr>
          <a:xfrm>
            <a:off x="7755235" y="2498725"/>
            <a:ext cx="3620691" cy="1469231"/>
          </a:xfrm>
          <a:prstGeom prst="roundRect">
            <a:avLst>
              <a:gd fmla="val 84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2"/>
          <p:cNvSpPr/>
          <p:nvPr/>
        </p:nvSpPr>
        <p:spPr>
          <a:xfrm>
            <a:off x="7987010" y="2730500"/>
            <a:ext cx="32518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3600"/>
              <a:buFont typeface="Geist"/>
              <a:buNone/>
            </a:pPr>
            <a:r>
              <a:rPr b="1" i="0" lang="en-US" sz="36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55</a:t>
            </a:r>
            <a:endParaRPr b="0" i="0" sz="3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31" name="Google Shape;631;p22"/>
          <p:cNvSpPr/>
          <p:nvPr/>
        </p:nvSpPr>
        <p:spPr>
          <a:xfrm>
            <a:off x="7987010" y="3238500"/>
            <a:ext cx="3251855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elementos en Jira: 11 épicas, 22 historias y 22 subtareas.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32" name="Google Shape;632;p22"/>
          <p:cNvSpPr/>
          <p:nvPr/>
        </p:nvSpPr>
        <p:spPr>
          <a:xfrm>
            <a:off x="7755235" y="4177506"/>
            <a:ext cx="3620691" cy="1469231"/>
          </a:xfrm>
          <a:prstGeom prst="roundRect">
            <a:avLst>
              <a:gd fmla="val 84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2"/>
          <p:cNvSpPr/>
          <p:nvPr/>
        </p:nvSpPr>
        <p:spPr>
          <a:xfrm>
            <a:off x="7987010" y="4409281"/>
            <a:ext cx="325185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3600"/>
              <a:buFont typeface="Geist"/>
              <a:buNone/>
            </a:pPr>
            <a:r>
              <a:rPr b="1" i="0" lang="en-US" sz="36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14/22</a:t>
            </a:r>
            <a:endParaRPr b="0" i="0" sz="3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7987010" y="4917281"/>
            <a:ext cx="3251855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subtareas finalizadas, cada una con responsable.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35" name="Google Shape;635;p2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Datos del tablero Jira al 14 de octubre · Expone: Emily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36" name="Google Shape;636;p22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637" name="Google Shape;637;p22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3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AJUSTES AL PLAN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44" name="Google Shape;644;p23"/>
          <p:cNvSpPr txBox="1"/>
          <p:nvPr>
            <p:ph type="title"/>
          </p:nvPr>
        </p:nvSpPr>
        <p:spPr>
          <a:xfrm>
            <a:off x="812800" y="1188641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ist"/>
              <a:buNone/>
            </a:pPr>
            <a:r>
              <a:rPr b="1" i="0" lang="en-US" sz="30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Priorizamos lo crítico: seguridad y flujo clínico</a:t>
            </a:r>
            <a:endParaRPr sz="3000"/>
          </a:p>
        </p:txBody>
      </p:sp>
      <p:graphicFrame>
        <p:nvGraphicFramePr>
          <p:cNvPr id="645" name="Google Shape;645;p23"/>
          <p:cNvGraphicFramePr/>
          <p:nvPr/>
        </p:nvGraphicFramePr>
        <p:xfrm>
          <a:off x="825500" y="229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{DF27089B-2375-4813-B4FA-19BFB8F1D5EE}</a:tableStyleId>
              </a:tblPr>
              <a:tblGrid>
                <a:gridCol w="4749175"/>
                <a:gridCol w="5804525"/>
              </a:tblGrid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300"/>
                        <a:buFont typeface="Geist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Ajuste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300"/>
                        <a:buFont typeface="Geist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Justificación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API externa del CIE-10 por catálogo local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La consulta no depende de un servicio externo.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Seguridad crítica en la base (RLS y triggers)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Protege los datos aunque falle la aplicación.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Agenda con duración y bloqueo de doble reserva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Evita solapes de horario por profesional.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Borrado en cascada por RESTRICT y baja lógica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Resguarda la ficha clínica del paciente.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Scrum y UI/UX como épicas EP-10 y EP-11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Dan visibilidad y responsable a la gestión y al diseño.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6" name="Google Shape;646;p2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Fuente: Informe de avance, sección 3 · Expone: Emily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47" name="Google Shape;647;p23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648" name="Google Shape;648;p23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4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FACILITADORES Y DIFICULTADES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55" name="Google Shape;655;p24"/>
          <p:cNvSpPr txBox="1"/>
          <p:nvPr>
            <p:ph type="title"/>
          </p:nvPr>
        </p:nvSpPr>
        <p:spPr>
          <a:xfrm>
            <a:off x="812800" y="11886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Geist"/>
              <a:buNone/>
            </a:pPr>
            <a:r>
              <a:rPr b="1" i="0" lang="en-US" sz="3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Qué ayudó, qué costó y qué hicimos</a:t>
            </a:r>
            <a:endParaRPr sz="3600"/>
          </a:p>
        </p:txBody>
      </p:sp>
      <p:sp>
        <p:nvSpPr>
          <p:cNvPr id="656" name="Google Shape;656;p24"/>
          <p:cNvSpPr/>
          <p:nvPr/>
        </p:nvSpPr>
        <p:spPr>
          <a:xfrm>
            <a:off x="815975" y="1997075"/>
            <a:ext cx="4398466" cy="2376091"/>
          </a:xfrm>
          <a:prstGeom prst="roundRect">
            <a:avLst>
              <a:gd fmla="val 41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4"/>
          <p:cNvSpPr/>
          <p:nvPr/>
        </p:nvSpPr>
        <p:spPr>
          <a:xfrm>
            <a:off x="1073150" y="2254250"/>
            <a:ext cx="4000640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Facilitadores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58" name="Google Shape;658;p24"/>
          <p:cNvSpPr/>
          <p:nvPr/>
        </p:nvSpPr>
        <p:spPr>
          <a:xfrm>
            <a:off x="1164844" y="2630091"/>
            <a:ext cx="3901326" cy="1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Next.js y Supabase aportan autenticación y RLS sin construirlas desde cero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Vercel y GitHub Actions automatizan despliegue y verificación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Migraciones SQL y Jira con responsables dan trazabilidad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59" name="Google Shape;659;p24"/>
          <p:cNvSpPr/>
          <p:nvPr/>
        </p:nvSpPr>
        <p:spPr>
          <a:xfrm>
            <a:off x="5423991" y="1997075"/>
            <a:ext cx="5952034" cy="2376091"/>
          </a:xfrm>
          <a:prstGeom prst="roundRect">
            <a:avLst>
              <a:gd fmla="val 41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4"/>
          <p:cNvSpPr/>
          <p:nvPr/>
        </p:nvSpPr>
        <p:spPr>
          <a:xfrm>
            <a:off x="5681166" y="2254250"/>
            <a:ext cx="5600814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Dificultades y acción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61" name="Google Shape;661;p24"/>
          <p:cNvSpPr/>
          <p:nvPr/>
        </p:nvSpPr>
        <p:spPr>
          <a:xfrm>
            <a:off x="5772860" y="2630091"/>
            <a:ext cx="5501500" cy="1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Geist"/>
              <a:buChar char="•"/>
            </a:pPr>
            <a:r>
              <a:rPr b="1" i="0" lang="en-US" sz="13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Pruebas de autenticación sin ejecutar:</a:t>
            </a: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 correrlas en Vercel y adjuntar evidencia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Geist"/>
              <a:buChar char="•"/>
            </a:pPr>
            <a:r>
              <a:rPr b="1" i="0" lang="en-US" sz="13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Documentación distinta del esquema real:</a:t>
            </a: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 migración de normalización aplicada el 14-10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Geist"/>
              <a:buChar char="•"/>
            </a:pPr>
            <a:r>
              <a:rPr b="1" i="0" lang="en-US" sz="13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Auditoría en una sola tabla:</a:t>
            </a: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 triggers en 10 tablas y bitácora append-only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62" name="Google Shape;662;p2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Fuente: Informe de avance, sección 3 · Expone: Emily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63" name="Google Shape;663;p24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664" name="Google Shape;664;p24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5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ESTADO DEL AVANCE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71" name="Google Shape;671;p25"/>
          <p:cNvSpPr txBox="1"/>
          <p:nvPr>
            <p:ph type="title"/>
          </p:nvPr>
        </p:nvSpPr>
        <p:spPr>
          <a:xfrm>
            <a:off x="812800" y="11886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Geist"/>
              <a:buNone/>
            </a:pPr>
            <a:r>
              <a:rPr b="1" i="0" lang="en-US" sz="3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Sistema desplegado y funcional</a:t>
            </a:r>
            <a:endParaRPr sz="3600"/>
          </a:p>
        </p:txBody>
      </p:sp>
      <p:sp>
        <p:nvSpPr>
          <p:cNvPr id="672" name="Google Shape;672;p25"/>
          <p:cNvSpPr/>
          <p:nvPr/>
        </p:nvSpPr>
        <p:spPr>
          <a:xfrm>
            <a:off x="812800" y="1968500"/>
            <a:ext cx="3390900" cy="2977158"/>
          </a:xfrm>
          <a:prstGeom prst="roundRect">
            <a:avLst>
              <a:gd fmla="val 426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5"/>
          <p:cNvSpPr/>
          <p:nvPr/>
        </p:nvSpPr>
        <p:spPr>
          <a:xfrm>
            <a:off x="1066800" y="2222500"/>
            <a:ext cx="2969387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Implementado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ok" id="674" name="Google Shape;6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62374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25"/>
          <p:cNvSpPr/>
          <p:nvPr/>
        </p:nvSpPr>
        <p:spPr>
          <a:xfrm>
            <a:off x="1371600" y="2623741"/>
            <a:ext cx="2655443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Registro, login y verificación en dos pasos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ok" id="676" name="Google Shape;6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319643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25"/>
          <p:cNvSpPr/>
          <p:nvPr/>
        </p:nvSpPr>
        <p:spPr>
          <a:xfrm>
            <a:off x="1371600" y="3196431"/>
            <a:ext cx="2655443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Pacientes, consentimiento y ficha clínica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ok" id="678" name="Google Shape;6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3769122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25"/>
          <p:cNvSpPr/>
          <p:nvPr/>
        </p:nvSpPr>
        <p:spPr>
          <a:xfrm>
            <a:off x="1371600" y="3769122"/>
            <a:ext cx="2655443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Agenda sin doble reserva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ok" id="680" name="Google Shape;6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4118967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25"/>
          <p:cNvSpPr/>
          <p:nvPr/>
        </p:nvSpPr>
        <p:spPr>
          <a:xfrm>
            <a:off x="1371600" y="4118967"/>
            <a:ext cx="2832100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Visor 3D del pie y ficha imprimible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ok" id="682" name="Google Shape;68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4468813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25"/>
          <p:cNvSpPr/>
          <p:nvPr/>
        </p:nvSpPr>
        <p:spPr>
          <a:xfrm>
            <a:off x="1371600" y="4468813"/>
            <a:ext cx="2655443" cy="2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Auditoría en 10 tablas y CI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84" name="Google Shape;684;p25"/>
          <p:cNvSpPr/>
          <p:nvPr/>
        </p:nvSpPr>
        <p:spPr>
          <a:xfrm>
            <a:off x="4387850" y="1974850"/>
            <a:ext cx="3403600" cy="2964458"/>
          </a:xfrm>
          <a:prstGeom prst="roundRect">
            <a:avLst>
              <a:gd fmla="val 4070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5"/>
          <p:cNvSpPr/>
          <p:nvPr/>
        </p:nvSpPr>
        <p:spPr>
          <a:xfrm>
            <a:off x="4648200" y="2235200"/>
            <a:ext cx="2969387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En revisión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pr" id="686" name="Google Shape;68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263644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25"/>
          <p:cNvSpPr/>
          <p:nvPr/>
        </p:nvSpPr>
        <p:spPr>
          <a:xfrm>
            <a:off x="4953000" y="2636441"/>
            <a:ext cx="2655443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Estratificación IWGDF completa, con pruebas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pr" id="688" name="Google Shape;68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320913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25"/>
          <p:cNvSpPr/>
          <p:nvPr/>
        </p:nvSpPr>
        <p:spPr>
          <a:xfrm>
            <a:off x="4953000" y="3209131"/>
            <a:ext cx="2655443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Landing con visor 3D y simulador de cartera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90" name="Google Shape;690;p25"/>
          <p:cNvSpPr/>
          <p:nvPr/>
        </p:nvSpPr>
        <p:spPr>
          <a:xfrm>
            <a:off x="7978775" y="1971675"/>
            <a:ext cx="3397250" cy="2970808"/>
          </a:xfrm>
          <a:prstGeom prst="roundRect">
            <a:avLst>
              <a:gd fmla="val 416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5"/>
          <p:cNvSpPr/>
          <p:nvPr/>
        </p:nvSpPr>
        <p:spPr>
          <a:xfrm>
            <a:off x="8235950" y="2228850"/>
            <a:ext cx="2969387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Pendiente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dot" id="692" name="Google Shape;69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5950" y="263009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25"/>
          <p:cNvSpPr/>
          <p:nvPr/>
        </p:nvSpPr>
        <p:spPr>
          <a:xfrm>
            <a:off x="8540750" y="2630091"/>
            <a:ext cx="2655443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Conectar motor IWGDF y derivación a la atención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dot" id="694" name="Google Shape;69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5950" y="320278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25"/>
          <p:cNvSpPr/>
          <p:nvPr/>
        </p:nvSpPr>
        <p:spPr>
          <a:xfrm>
            <a:off x="8540750" y="3202781"/>
            <a:ext cx="2655443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Medición de heridas y fotos clínicas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descr="dot" id="696" name="Google Shape;69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5950" y="3775472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25"/>
          <p:cNvSpPr/>
          <p:nvPr/>
        </p:nvSpPr>
        <p:spPr>
          <a:xfrm>
            <a:off x="8540750" y="3775472"/>
            <a:ext cx="2655443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Pruebas manuales de autenticación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98" name="Google Shape;698;p2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Producción: podocare-six.vercel.app · Expone: Martin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99" name="Google Shape;699;p25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700" name="Google Shape;700;p25"/>
          <p:cNvPicPr preferRelativeResize="0"/>
          <p:nvPr/>
        </p:nvPicPr>
        <p:blipFill rotWithShape="1">
          <a:blip r:embed="rId6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6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EVIDENCIAS DE AVANCE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07" name="Google Shape;707;p26"/>
          <p:cNvSpPr txBox="1"/>
          <p:nvPr>
            <p:ph type="title"/>
          </p:nvPr>
        </p:nvSpPr>
        <p:spPr>
          <a:xfrm>
            <a:off x="812800" y="11886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Geist"/>
              <a:buNone/>
            </a:pPr>
            <a:r>
              <a:rPr b="1" i="0" lang="en-US" sz="3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Todo el avance está versionado en Git</a:t>
            </a:r>
            <a:endParaRPr sz="3600"/>
          </a:p>
        </p:txBody>
      </p:sp>
      <p:sp>
        <p:nvSpPr>
          <p:cNvPr id="708" name="Google Shape;708;p26"/>
          <p:cNvSpPr/>
          <p:nvPr/>
        </p:nvSpPr>
        <p:spPr>
          <a:xfrm>
            <a:off x="815975" y="1997075"/>
            <a:ext cx="3384550" cy="3315891"/>
          </a:xfrm>
          <a:prstGeom prst="roundRect">
            <a:avLst>
              <a:gd fmla="val 296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6"/>
          <p:cNvSpPr/>
          <p:nvPr/>
        </p:nvSpPr>
        <p:spPr>
          <a:xfrm>
            <a:off x="1047750" y="2228850"/>
            <a:ext cx="3008630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Documentación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10" name="Google Shape;710;p26"/>
          <p:cNvSpPr/>
          <p:nvPr/>
        </p:nvSpPr>
        <p:spPr>
          <a:xfrm>
            <a:off x="1139444" y="2604691"/>
            <a:ext cx="2909316" cy="17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Informe de avance y guías de Fase 2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README y model.md actualizados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Diagrama de base de datos normalizado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Diario de reflexión de cada integrante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11" name="Google Shape;711;p26"/>
          <p:cNvSpPr/>
          <p:nvPr/>
        </p:nvSpPr>
        <p:spPr>
          <a:xfrm>
            <a:off x="4410075" y="1997075"/>
            <a:ext cx="3384550" cy="3315891"/>
          </a:xfrm>
          <a:prstGeom prst="roundRect">
            <a:avLst>
              <a:gd fmla="val 296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6"/>
          <p:cNvSpPr/>
          <p:nvPr/>
        </p:nvSpPr>
        <p:spPr>
          <a:xfrm>
            <a:off x="4641850" y="2228850"/>
            <a:ext cx="3008630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Programación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13" name="Google Shape;713;p26"/>
          <p:cNvSpPr/>
          <p:nvPr/>
        </p:nvSpPr>
        <p:spPr>
          <a:xfrm>
            <a:off x="4733544" y="2604691"/>
            <a:ext cx="2909316" cy="2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App en producción en Vercel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Next.js 16 con Server Actions y validación Zod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4 archivos de pruebas con node:test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CI: lint, compilación y Docker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47 commits en main, cambios por pull request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Landing pública con visor 3D del pie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14" name="Google Shape;714;p26"/>
          <p:cNvSpPr/>
          <p:nvPr/>
        </p:nvSpPr>
        <p:spPr>
          <a:xfrm>
            <a:off x="8001000" y="1993900"/>
            <a:ext cx="3378200" cy="3322241"/>
          </a:xfrm>
          <a:prstGeom prst="roundRect">
            <a:avLst>
              <a:gd fmla="val 305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6"/>
          <p:cNvSpPr/>
          <p:nvPr/>
        </p:nvSpPr>
        <p:spPr>
          <a:xfrm>
            <a:off x="8229600" y="2222500"/>
            <a:ext cx="3008630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Datos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16" name="Google Shape;716;p26"/>
          <p:cNvSpPr/>
          <p:nvPr/>
        </p:nvSpPr>
        <p:spPr>
          <a:xfrm>
            <a:off x="8321294" y="2598341"/>
            <a:ext cx="2909316" cy="1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PostgreSQL en Supabase con RLS en todas las tablas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Auditoría en 10 tablas, probada con una escritura real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2E8F0"/>
                </a:solidFill>
                <a:latin typeface="Geist"/>
                <a:ea typeface="Geist"/>
                <a:cs typeface="Geist"/>
                <a:sym typeface="Geist"/>
              </a:rPr>
              <a:t>Normalización aplicada el 14 de octubre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17" name="Google Shape;717;p2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Producción: podocare-six.vercel.app · Expone: Martin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18" name="Google Shape;718;p26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719" name="Google Shape;719;p26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7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PERFIL DE EGRESO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26" name="Google Shape;726;p27"/>
          <p:cNvSpPr txBox="1"/>
          <p:nvPr>
            <p:ph type="title"/>
          </p:nvPr>
        </p:nvSpPr>
        <p:spPr>
          <a:xfrm>
            <a:off x="812800" y="11886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Geist"/>
              <a:buNone/>
            </a:pPr>
            <a:r>
              <a:rPr b="1" i="0" lang="en-US" sz="3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Competencias y evidencia</a:t>
            </a:r>
            <a:endParaRPr sz="3600"/>
          </a:p>
        </p:txBody>
      </p:sp>
      <p:graphicFrame>
        <p:nvGraphicFramePr>
          <p:cNvPr id="727" name="Google Shape;727;p27"/>
          <p:cNvGraphicFramePr/>
          <p:nvPr/>
        </p:nvGraphicFramePr>
        <p:xfrm>
          <a:off x="825500" y="195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{DF27089B-2375-4813-B4FA-19BFB8F1D5EE}</a:tableStyleId>
              </a:tblPr>
              <a:tblGrid>
                <a:gridCol w="2955025"/>
                <a:gridCol w="6121150"/>
                <a:gridCol w="1477525"/>
              </a:tblGrid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300"/>
                        <a:buFont typeface="Geist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Competencia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300"/>
                        <a:buFont typeface="Geist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Evidencia en PodoCare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300"/>
                        <a:buFont typeface="Geist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EEAD4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Estado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9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Pruebas (1.1 a 1.3)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Pruebas con node:test y CI; pruebas de autenticación y con el cliente por ejecutar.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5309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B45309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Parcial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Gestión (2.1 y 2.2)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Plan de trabajo, Scrum en Jira y monitoreo con ajustes.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766E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Aplicado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Datos (3.1 y 3.2)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Modelo multi-tenant normalizado, migraciones SQL y RLS.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766E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Aplicado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Software (4.1 a 4.3)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172A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Next.js y Supabase integrados, desplegados en Vercel con Docker y CI.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66E"/>
                        </a:buClr>
                        <a:buSzPts val="1300"/>
                        <a:buFont typeface="Geist"/>
                        <a:buNone/>
                      </a:pPr>
                      <a:r>
                        <a:rPr lang="en-US" sz="1300" u="none" cap="none" strike="noStrike">
                          <a:solidFill>
                            <a:srgbClr val="0F766E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Aplicado</a:t>
                      </a:r>
                      <a:endParaRPr sz="1300" u="none" cap="none" strike="noStrike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28" name="Google Shape;728;p2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Indicadores de calidad de las pautas 2.2 y 2.3 · Expone: Martin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29" name="Google Shape;729;p27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730" name="Google Shape;730;p27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8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EL EQUIPO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37" name="Google Shape;737;p28"/>
          <p:cNvSpPr txBox="1"/>
          <p:nvPr>
            <p:ph type="title"/>
          </p:nvPr>
        </p:nvSpPr>
        <p:spPr>
          <a:xfrm>
            <a:off x="812800" y="11886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Geist"/>
              <a:buNone/>
            </a:pPr>
            <a:r>
              <a:rPr b="1" i="0" lang="en-US" sz="3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Tres integrantes, roles claros</a:t>
            </a:r>
            <a:endParaRPr sz="3600"/>
          </a:p>
        </p:txBody>
      </p:sp>
      <p:sp>
        <p:nvSpPr>
          <p:cNvPr id="738" name="Google Shape;738;p28"/>
          <p:cNvSpPr/>
          <p:nvPr/>
        </p:nvSpPr>
        <p:spPr>
          <a:xfrm>
            <a:off x="815975" y="1997075"/>
            <a:ext cx="3380284" cy="2320032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8"/>
          <p:cNvSpPr/>
          <p:nvPr/>
        </p:nvSpPr>
        <p:spPr>
          <a:xfrm>
            <a:off x="1073150" y="2254250"/>
            <a:ext cx="609600" cy="609600"/>
          </a:xfrm>
          <a:custGeom>
            <a:rect b="b" l="l" r="r" t="t"/>
            <a:pathLst>
              <a:path extrusionOk="0" h="609600" w="609600">
                <a:moveTo>
                  <a:pt x="304800" y="0"/>
                </a:moveTo>
                <a:lnTo>
                  <a:pt x="304800" y="0"/>
                </a:lnTo>
                <a:cubicBezTo>
                  <a:pt x="385638" y="0"/>
                  <a:pt x="463165" y="32113"/>
                  <a:pt x="520326" y="89274"/>
                </a:cubicBezTo>
                <a:cubicBezTo>
                  <a:pt x="577487" y="146435"/>
                  <a:pt x="609600" y="223962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ubicBezTo>
                  <a:pt x="0" y="136464"/>
                  <a:pt x="136464" y="0"/>
                  <a:pt x="304800" y="0"/>
                </a:cubicBezTo>
                <a:close/>
              </a:path>
            </a:pathLst>
          </a:cu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MC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40" name="Google Shape;740;p28"/>
          <p:cNvSpPr/>
          <p:nvPr/>
        </p:nvSpPr>
        <p:spPr>
          <a:xfrm>
            <a:off x="1073150" y="2940050"/>
            <a:ext cx="2951912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Marcelo Caballero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41" name="Google Shape;741;p28"/>
          <p:cNvSpPr/>
          <p:nvPr/>
        </p:nvSpPr>
        <p:spPr>
          <a:xfrm>
            <a:off x="1073150" y="3290491"/>
            <a:ext cx="295191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Seguridad, datos e infraestructura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42" name="Google Shape;742;p28"/>
          <p:cNvSpPr/>
          <p:nvPr/>
        </p:nvSpPr>
        <p:spPr>
          <a:xfrm>
            <a:off x="1073150" y="3597771"/>
            <a:ext cx="2951912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Modelo PostgreSQL, RLS, triggers de auditoría, Supabase y despliegue.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43" name="Google Shape;743;p28"/>
          <p:cNvSpPr/>
          <p:nvPr/>
        </p:nvSpPr>
        <p:spPr>
          <a:xfrm>
            <a:off x="4405809" y="1997075"/>
            <a:ext cx="3380383" cy="2320032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8"/>
          <p:cNvSpPr/>
          <p:nvPr/>
        </p:nvSpPr>
        <p:spPr>
          <a:xfrm>
            <a:off x="4662984" y="2254250"/>
            <a:ext cx="609600" cy="609600"/>
          </a:xfrm>
          <a:custGeom>
            <a:rect b="b" l="l" r="r" t="t"/>
            <a:pathLst>
              <a:path extrusionOk="0" h="609600" w="609600">
                <a:moveTo>
                  <a:pt x="304800" y="0"/>
                </a:moveTo>
                <a:lnTo>
                  <a:pt x="304800" y="0"/>
                </a:lnTo>
                <a:cubicBezTo>
                  <a:pt x="385638" y="0"/>
                  <a:pt x="463165" y="32113"/>
                  <a:pt x="520326" y="89274"/>
                </a:cubicBezTo>
                <a:cubicBezTo>
                  <a:pt x="577487" y="146435"/>
                  <a:pt x="609600" y="223962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ubicBezTo>
                  <a:pt x="0" y="136464"/>
                  <a:pt x="136464" y="0"/>
                  <a:pt x="304800" y="0"/>
                </a:cubicBezTo>
                <a:close/>
              </a:path>
            </a:pathLst>
          </a:cu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MM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45" name="Google Shape;745;p28"/>
          <p:cNvSpPr/>
          <p:nvPr/>
        </p:nvSpPr>
        <p:spPr>
          <a:xfrm>
            <a:off x="4662984" y="2940050"/>
            <a:ext cx="2952014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Martin Maldonado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46" name="Google Shape;746;p28"/>
          <p:cNvSpPr/>
          <p:nvPr/>
        </p:nvSpPr>
        <p:spPr>
          <a:xfrm>
            <a:off x="4662984" y="3290491"/>
            <a:ext cx="2952014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Frontend y QA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47" name="Google Shape;747;p28"/>
          <p:cNvSpPr/>
          <p:nvPr/>
        </p:nvSpPr>
        <p:spPr>
          <a:xfrm>
            <a:off x="4662984" y="3597771"/>
            <a:ext cx="2952014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Cliente web en Next.js, UI/UX y control de calidad.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48" name="Google Shape;748;p28"/>
          <p:cNvSpPr/>
          <p:nvPr/>
        </p:nvSpPr>
        <p:spPr>
          <a:xfrm>
            <a:off x="7995741" y="1997075"/>
            <a:ext cx="3380284" cy="2320032"/>
          </a:xfrm>
          <a:prstGeom prst="roundRect">
            <a:avLst>
              <a:gd fmla="val 42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8"/>
          <p:cNvSpPr/>
          <p:nvPr/>
        </p:nvSpPr>
        <p:spPr>
          <a:xfrm>
            <a:off x="8252916" y="2254250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EV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50" name="Google Shape;750;p28"/>
          <p:cNvSpPr/>
          <p:nvPr/>
        </p:nvSpPr>
        <p:spPr>
          <a:xfrm>
            <a:off x="8252916" y="2940050"/>
            <a:ext cx="2951912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ist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Emily Vera</a:t>
            </a:r>
            <a:endParaRPr b="0" i="0" sz="18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51" name="Google Shape;751;p28"/>
          <p:cNvSpPr/>
          <p:nvPr/>
        </p:nvSpPr>
        <p:spPr>
          <a:xfrm>
            <a:off x="8252916" y="3290491"/>
            <a:ext cx="295191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Scrum Master y Product Owner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52" name="Google Shape;752;p28"/>
          <p:cNvSpPr/>
          <p:nvPr/>
        </p:nvSpPr>
        <p:spPr>
          <a:xfrm>
            <a:off x="8252916" y="3597771"/>
            <a:ext cx="2951912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Backlog, requerimientos y coordinación con el cliente real.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53" name="Google Shape;753;p2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Los tres integrantes exponen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54" name="Google Shape;754;p28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755" name="Google Shape;755;p28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 PodoCare" id="761" name="Google Shape;761;p29"/>
          <p:cNvPicPr preferRelativeResize="0"/>
          <p:nvPr/>
        </p:nvPicPr>
        <p:blipFill rotWithShape="1">
          <a:blip r:embed="rId3">
            <a:alphaModFix/>
          </a:blip>
          <a:srcRect b="0" l="22705" r="22705" t="0"/>
          <a:stretch/>
        </p:blipFill>
        <p:spPr>
          <a:xfrm>
            <a:off x="812800" y="1192609"/>
            <a:ext cx="762000" cy="762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62" name="Google Shape;762;p29"/>
          <p:cNvSpPr txBox="1"/>
          <p:nvPr>
            <p:ph type="title"/>
          </p:nvPr>
        </p:nvSpPr>
        <p:spPr>
          <a:xfrm>
            <a:off x="812800" y="2157809"/>
            <a:ext cx="6153282" cy="1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ist"/>
              <a:buNone/>
            </a:pPr>
            <a:r>
              <a:rPr b="1" i="0" lang="en-US" sz="380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Existe gestión de agenda. </a:t>
            </a:r>
            <a:r>
              <a:rPr b="1" i="0" lang="en-US" sz="3800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Faltaba inteligencia clínica de riesgo.</a:t>
            </a:r>
            <a:endParaRPr sz="3800"/>
          </a:p>
        </p:txBody>
      </p:sp>
      <p:sp>
        <p:nvSpPr>
          <p:cNvPr id="763" name="Google Shape;763;p29"/>
          <p:cNvSpPr/>
          <p:nvPr/>
        </p:nvSpPr>
        <p:spPr>
          <a:xfrm>
            <a:off x="812800" y="3953470"/>
            <a:ext cx="61532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Geist"/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Gracias. ¿Preguntas?</a:t>
            </a:r>
            <a:endParaRPr b="0" i="0" sz="20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64" name="Google Shape;764;p29"/>
          <p:cNvSpPr/>
          <p:nvPr/>
        </p:nvSpPr>
        <p:spPr>
          <a:xfrm>
            <a:off x="819150" y="4518620"/>
            <a:ext cx="5961360" cy="937220"/>
          </a:xfrm>
          <a:prstGeom prst="roundRect">
            <a:avLst>
              <a:gd fmla="val 10163" name="adj"/>
            </a:avLst>
          </a:prstGeom>
          <a:noFill/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9"/>
          <p:cNvSpPr/>
          <p:nvPr/>
        </p:nvSpPr>
        <p:spPr>
          <a:xfrm>
            <a:off x="1028700" y="4677370"/>
            <a:ext cx="570852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PRUEBA LA APP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66" name="Google Shape;766;p29"/>
          <p:cNvSpPr/>
          <p:nvPr/>
        </p:nvSpPr>
        <p:spPr>
          <a:xfrm>
            <a:off x="1028700" y="4941491"/>
            <a:ext cx="570852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ist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podocare-six.vercel.app</a:t>
            </a:r>
            <a:endParaRPr b="0" i="0" sz="20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767" name="Google Shape;767;p29"/>
          <p:cNvCxnSpPr/>
          <p:nvPr/>
        </p:nvCxnSpPr>
        <p:spPr>
          <a:xfrm>
            <a:off x="7402810" y="2529880"/>
            <a:ext cx="0" cy="1595041"/>
          </a:xfrm>
          <a:prstGeom prst="straightConnector1">
            <a:avLst/>
          </a:prstGeom>
          <a:noFill/>
          <a:ln cap="flat" cmpd="sng" w="12700">
            <a:solidFill>
              <a:srgbClr val="2DD4B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8" name="Google Shape;768;p29"/>
          <p:cNvSpPr/>
          <p:nvPr/>
        </p:nvSpPr>
        <p:spPr>
          <a:xfrm>
            <a:off x="7713960" y="2529880"/>
            <a:ext cx="3775197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5EEAD4"/>
                </a:solidFill>
                <a:latin typeface="Geist"/>
                <a:ea typeface="Geist"/>
                <a:cs typeface="Geist"/>
                <a:sym typeface="Geist"/>
              </a:rPr>
              <a:t>PRÓXIMOS PASOS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69" name="Google Shape;769;p29"/>
          <p:cNvSpPr/>
          <p:nvPr/>
        </p:nvSpPr>
        <p:spPr>
          <a:xfrm>
            <a:off x="7777968" y="2905720"/>
            <a:ext cx="3703569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89992" lvl="0" marL="18999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Geist"/>
              <a:buChar char="•"/>
            </a:pPr>
            <a:r>
              <a:rPr b="0" i="0" lang="en-US" sz="16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Conectar atención, IWGDF y derivación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89992" lvl="0" marL="18999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Geist"/>
              <a:buChar char="•"/>
            </a:pPr>
            <a:r>
              <a:rPr b="0" i="0" lang="en-US" sz="16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Fusionar estratificación y landing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89992" lvl="0" marL="18999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Geist"/>
              <a:buChar char="•"/>
            </a:pPr>
            <a:r>
              <a:rPr b="0" i="0" lang="en-US" sz="1600" u="none" cap="none" strike="noStrike">
                <a:solidFill>
                  <a:srgbClr val="CBD5E1"/>
                </a:solidFill>
                <a:latin typeface="Geist"/>
                <a:ea typeface="Geist"/>
                <a:cs typeface="Geist"/>
                <a:sym typeface="Geist"/>
              </a:rPr>
              <a:t>Validar con el cliente piloto</a:t>
            </a:r>
            <a:endParaRPr b="0" i="0" sz="16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70" name="Google Shape;770;p2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Geist"/>
                <a:ea typeface="Geist"/>
                <a:cs typeface="Geist"/>
                <a:sym typeface="Geist"/>
              </a:rPr>
              <a:t>Equipo PodoCare · Duoc UC Sede Plaza Vespucio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71" name="Google Shape;771;p29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772" name="Google Shape;772;p29"/>
          <p:cNvPicPr preferRelativeResize="0"/>
          <p:nvPr/>
        </p:nvPicPr>
        <p:blipFill rotWithShape="1">
          <a:blip r:embed="rId4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1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Geist"/>
                <a:ea typeface="Geist"/>
                <a:cs typeface="Geist"/>
                <a:sym typeface="Geist"/>
              </a:rPr>
              <a:t>REFERENCIAS</a:t>
            </a:r>
            <a:endParaRPr b="0" i="0" sz="14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79" name="Google Shape;779;p31"/>
          <p:cNvSpPr txBox="1"/>
          <p:nvPr>
            <p:ph type="title"/>
          </p:nvPr>
        </p:nvSpPr>
        <p:spPr>
          <a:xfrm>
            <a:off x="812800" y="11886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Geist"/>
              <a:buNone/>
            </a:pPr>
            <a:r>
              <a:rPr b="1" i="0" lang="en-US" sz="3600">
                <a:solidFill>
                  <a:srgbClr val="0F172A"/>
                </a:solidFill>
                <a:latin typeface="Geist"/>
                <a:ea typeface="Geist"/>
                <a:cs typeface="Geist"/>
                <a:sym typeface="Geist"/>
              </a:rPr>
              <a:t>Fuentes consultadas</a:t>
            </a:r>
            <a:endParaRPr sz="3600"/>
          </a:p>
        </p:txBody>
      </p:sp>
      <p:sp>
        <p:nvSpPr>
          <p:cNvPr id="780" name="Google Shape;780;p31"/>
          <p:cNvSpPr/>
          <p:nvPr/>
        </p:nvSpPr>
        <p:spPr>
          <a:xfrm>
            <a:off x="904494" y="1996281"/>
            <a:ext cx="5159248" cy="20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Congreso Nacional de Chile. Ley N.º 19.628 sobre protección de la vida privada. Biblioteca del Congreso Nacional.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Congreso Nacional de Chile. Ley N.º 20.584 sobre derechos y deberes de los pacientes.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Congreso Nacional de Chile. Ley N.º 21.719 sobre protección de datos personales.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International Working Group on the Diabetic Foot. Guidelines on the prevention of foot ulcers in persons with diabetes, 2023.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81" name="Google Shape;781;p31"/>
          <p:cNvSpPr/>
          <p:nvPr/>
        </p:nvSpPr>
        <p:spPr>
          <a:xfrm>
            <a:off x="6365494" y="1996281"/>
            <a:ext cx="5159248" cy="20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Organización Mundial de la Salud. Clasificación Internacional de Enfermedades, décima revisión (CIE-10).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Vercel. Next.js Documentation: App Router y Server Actions.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Supabase. Documentation: Auth y Row Level Security.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162306" lvl="0" marL="16230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Schwaber, K. y Sutherland, J. The Scrum Guide.</a:t>
            </a:r>
            <a:endParaRPr b="0" i="0" sz="13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82" name="Google Shape;782;p3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Geist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Geist"/>
                <a:ea typeface="Geist"/>
                <a:cs typeface="Geist"/>
                <a:sym typeface="Geist"/>
              </a:rPr>
              <a:t>PODOCARE · Normas de citas y referencias exigidas por la rúbrica</a:t>
            </a:r>
            <a:endParaRPr b="0" i="0" sz="1200" u="none" cap="none" strike="noStrike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783" name="Google Shape;783;p31"/>
          <p:cNvSpPr/>
          <p:nvPr/>
        </p:nvSpPr>
        <p:spPr>
          <a:xfrm>
            <a:off x="10010775" y="282575"/>
            <a:ext cx="1771650" cy="450850"/>
          </a:xfrm>
          <a:prstGeom prst="roundRect">
            <a:avLst>
              <a:gd fmla="val 1619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oc UC" id="784" name="Google Shape;784;p31"/>
          <p:cNvPicPr preferRelativeResize="0"/>
          <p:nvPr/>
        </p:nvPicPr>
        <p:blipFill rotWithShape="1">
          <a:blip r:embed="rId3">
            <a:alphaModFix/>
          </a:blip>
          <a:srcRect b="0" l="-12071" r="-12071" t="0"/>
          <a:stretch/>
        </p:blipFill>
        <p:spPr>
          <a:xfrm>
            <a:off x="10121900" y="368300"/>
            <a:ext cx="154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doCare">
  <a:themeElements>
    <a:clrScheme name="PodoCare">
      <a:dk1>
        <a:srgbClr val="0F172A"/>
      </a:dk1>
      <a:lt1>
        <a:srgbClr val="F8FAFC"/>
      </a:lt1>
      <a:dk2>
        <a:srgbClr val="49505F"/>
      </a:dk2>
      <a:lt2>
        <a:srgbClr val="E1E3E7"/>
      </a:lt2>
      <a:accent1>
        <a:srgbClr val="0F766E"/>
      </a:accent1>
      <a:accent2>
        <a:srgbClr val="5EEAD4"/>
      </a:accent2>
      <a:accent3>
        <a:srgbClr val="64748B"/>
      </a:accent3>
      <a:accent4>
        <a:srgbClr val="14B8A6"/>
      </a:accent4>
      <a:accent5>
        <a:srgbClr val="D97706"/>
      </a:accent5>
      <a:accent6>
        <a:srgbClr val="DC262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doCare">
  <a:themeElements>
    <a:clrScheme name="PodoCare">
      <a:dk1>
        <a:srgbClr val="0F172A"/>
      </a:dk1>
      <a:lt1>
        <a:srgbClr val="F8FAFC"/>
      </a:lt1>
      <a:dk2>
        <a:srgbClr val="49505F"/>
      </a:dk2>
      <a:lt2>
        <a:srgbClr val="E1E3E7"/>
      </a:lt2>
      <a:accent1>
        <a:srgbClr val="0F766E"/>
      </a:accent1>
      <a:accent2>
        <a:srgbClr val="5EEAD4"/>
      </a:accent2>
      <a:accent3>
        <a:srgbClr val="64748B"/>
      </a:accent3>
      <a:accent4>
        <a:srgbClr val="14B8A6"/>
      </a:accent4>
      <a:accent5>
        <a:srgbClr val="D97706"/>
      </a:accent5>
      <a:accent6>
        <a:srgbClr val="DC262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2026-10-15T18:21:13Z</dcterms:created>
</cp:coreProperties>
</file>